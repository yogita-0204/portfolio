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660215-B369-40B0-84C7-7E222474B270}" v="188" dt="2025-11-27T18:27:58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14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330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59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22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2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424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03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17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1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62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2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96B72-FBF4-4D18-A8C4-FD3759BA8FB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DFE73-EAF2-404D-A4B5-D14A9FD0F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17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4B6112-D345-AD49-38DF-E2E45BE027EB}"/>
              </a:ext>
            </a:extLst>
          </p:cNvPr>
          <p:cNvSpPr txBox="1"/>
          <p:nvPr/>
        </p:nvSpPr>
        <p:spPr>
          <a:xfrm>
            <a:off x="4277033" y="3729799"/>
            <a:ext cx="45621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NAME: YOGITA YADAV</a:t>
            </a:r>
          </a:p>
          <a:p>
            <a:r>
              <a:rPr lang="en-IN" sz="2800" dirty="0"/>
              <a:t>REG. NO. : 12304886</a:t>
            </a:r>
          </a:p>
          <a:p>
            <a:r>
              <a:rPr lang="en-IN" sz="2800" dirty="0"/>
              <a:t>SECTION: KO127</a:t>
            </a:r>
          </a:p>
          <a:p>
            <a:r>
              <a:rPr lang="en-IN" sz="2800" dirty="0"/>
              <a:t>SUBJECT CODE: IXD801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8E5A79-700C-451B-B749-70D4AFC3E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55" y="536505"/>
            <a:ext cx="7323197" cy="249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3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F04B1-AD93-FFED-A12C-5319E8072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4" y="560439"/>
            <a:ext cx="3008293" cy="57617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7674E1-7931-6917-119F-5EF52A30594C}"/>
              </a:ext>
            </a:extLst>
          </p:cNvPr>
          <p:cNvSpPr txBox="1"/>
          <p:nvPr/>
        </p:nvSpPr>
        <p:spPr>
          <a:xfrm flipH="1">
            <a:off x="8445910" y="776747"/>
            <a:ext cx="31266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>
                <a:latin typeface="Algerian" panose="04020705040A02060702" pitchFamily="82" charset="0"/>
              </a:rPr>
              <a:t>Law of Similarity</a:t>
            </a:r>
          </a:p>
          <a:p>
            <a:r>
              <a:rPr lang="en-US" sz="1400" i="1" dirty="0"/>
              <a:t>All songs follow the </a:t>
            </a:r>
            <a:r>
              <a:rPr lang="en-US" sz="1400" b="1" i="1" dirty="0"/>
              <a:t>same layout</a:t>
            </a:r>
            <a:r>
              <a:rPr lang="en-US" sz="1400" i="1" dirty="0"/>
              <a:t> .This similarity helps users instantly recognize each row as a </a:t>
            </a:r>
            <a:r>
              <a:rPr lang="en-US" sz="1400" b="1" i="1" dirty="0"/>
              <a:t>song item</a:t>
            </a:r>
            <a:r>
              <a:rPr lang="en-US" sz="1400" i="1" dirty="0"/>
              <a:t>.</a:t>
            </a:r>
            <a:endParaRPr lang="en-IN" sz="1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6996B-0837-EB72-5ACE-794C14258C99}"/>
              </a:ext>
            </a:extLst>
          </p:cNvPr>
          <p:cNvSpPr txBox="1"/>
          <p:nvPr/>
        </p:nvSpPr>
        <p:spPr>
          <a:xfrm>
            <a:off x="8568813" y="2605548"/>
            <a:ext cx="28808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latin typeface="Algerian" panose="04020705040A02060702" pitchFamily="82" charset="0"/>
              </a:rPr>
              <a:t>Law of Proximity</a:t>
            </a:r>
          </a:p>
          <a:p>
            <a:r>
              <a:rPr lang="en-US" sz="1400" dirty="0"/>
              <a:t>The song title and artist are placed </a:t>
            </a:r>
            <a:r>
              <a:rPr lang="en-US" sz="1400" b="1" dirty="0"/>
              <a:t>close together</a:t>
            </a:r>
            <a:r>
              <a:rPr lang="en-US" sz="1400" dirty="0"/>
              <a:t>, showing they belong to the same song.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CD0A3-21F2-F4C1-3416-C961C787EAD3}"/>
              </a:ext>
            </a:extLst>
          </p:cNvPr>
          <p:cNvSpPr txBox="1"/>
          <p:nvPr/>
        </p:nvSpPr>
        <p:spPr>
          <a:xfrm>
            <a:off x="8652386" y="4326194"/>
            <a:ext cx="2713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latin typeface="Algerian" panose="04020705040A02060702" pitchFamily="82" charset="0"/>
              </a:rPr>
              <a:t>Law of Continuity</a:t>
            </a:r>
          </a:p>
          <a:p>
            <a:r>
              <a:rPr lang="en-US" sz="1400" dirty="0"/>
              <a:t>All songs are perfectly aligned in a vertical column, guiding the user's eye smoothly </a:t>
            </a:r>
            <a:r>
              <a:rPr lang="en-US" sz="1400" b="1" dirty="0"/>
              <a:t>top to bottom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BC3D4-A9A8-AA4A-6900-4CEE7DE0FEF9}"/>
              </a:ext>
            </a:extLst>
          </p:cNvPr>
          <p:cNvSpPr txBox="1"/>
          <p:nvPr/>
        </p:nvSpPr>
        <p:spPr>
          <a:xfrm>
            <a:off x="855406" y="875071"/>
            <a:ext cx="3165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latin typeface="Algerian" panose="04020705040A02060702" pitchFamily="82" charset="0"/>
              </a:rPr>
              <a:t>Law of Common Region</a:t>
            </a:r>
          </a:p>
          <a:p>
            <a:r>
              <a:rPr lang="en-US" sz="1400" dirty="0"/>
              <a:t>The mini-player is enclosed in a </a:t>
            </a:r>
            <a:r>
              <a:rPr lang="en-US" sz="1400" b="1" dirty="0"/>
              <a:t>separate rectangular region</a:t>
            </a:r>
            <a:r>
              <a:rPr lang="en-US" sz="1400" dirty="0"/>
              <a:t>, showing it is a different section from the playlist.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455FAE-B708-9E1D-0F2B-56144A80CE3C}"/>
              </a:ext>
            </a:extLst>
          </p:cNvPr>
          <p:cNvSpPr txBox="1"/>
          <p:nvPr/>
        </p:nvSpPr>
        <p:spPr>
          <a:xfrm>
            <a:off x="855406" y="2605548"/>
            <a:ext cx="30082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latin typeface="Algerian" panose="04020705040A02060702" pitchFamily="82" charset="0"/>
              </a:rPr>
              <a:t>Law of </a:t>
            </a:r>
            <a:r>
              <a:rPr lang="en-IN" dirty="0" err="1">
                <a:latin typeface="Algerian" panose="04020705040A02060702" pitchFamily="82" charset="0"/>
              </a:rPr>
              <a:t>Prägnanz</a:t>
            </a:r>
            <a:endParaRPr lang="en-IN" dirty="0">
              <a:latin typeface="Algerian" panose="04020705040A02060702" pitchFamily="82" charset="0"/>
            </a:endParaRPr>
          </a:p>
          <a:p>
            <a:r>
              <a:rPr lang="en-US" sz="1400" dirty="0"/>
              <a:t>The UI uses clean and simple shapes, making the screen easy to understand and reducing visual clutter.</a:t>
            </a:r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25C8D-E2EA-933D-03F4-4C34334A079B}"/>
              </a:ext>
            </a:extLst>
          </p:cNvPr>
          <p:cNvSpPr txBox="1"/>
          <p:nvPr/>
        </p:nvSpPr>
        <p:spPr>
          <a:xfrm>
            <a:off x="993248" y="4326194"/>
            <a:ext cx="2595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latin typeface="Algerian" panose="04020705040A02060702" pitchFamily="82" charset="0"/>
              </a:rPr>
              <a:t>Fitts’s Law</a:t>
            </a:r>
          </a:p>
          <a:p>
            <a:r>
              <a:rPr lang="en-US" sz="1400" dirty="0"/>
              <a:t>The play button is large and easy to tap, reducing effort and improving accessibility.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1599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35CF6-4E81-A068-28D5-BC40C5198F1F}"/>
              </a:ext>
            </a:extLst>
          </p:cNvPr>
          <p:cNvSpPr txBox="1"/>
          <p:nvPr/>
        </p:nvSpPr>
        <p:spPr>
          <a:xfrm>
            <a:off x="8101777" y="373626"/>
            <a:ext cx="36674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Law of Similarity</a:t>
            </a:r>
          </a:p>
          <a:p>
            <a:r>
              <a:rPr lang="en-US" sz="1400" dirty="0"/>
              <a:t>Every chat item follows the </a:t>
            </a:r>
            <a:r>
              <a:rPr lang="en-US" sz="1400" b="1" dirty="0"/>
              <a:t>same structure and design</a:t>
            </a:r>
            <a:r>
              <a:rPr lang="en-US" sz="1400" dirty="0"/>
              <a:t>, so users instantly recognize each row as a chat entry.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19512-0816-4B7C-C4C2-66F439827CB3}"/>
              </a:ext>
            </a:extLst>
          </p:cNvPr>
          <p:cNvSpPr txBox="1"/>
          <p:nvPr/>
        </p:nvSpPr>
        <p:spPr>
          <a:xfrm>
            <a:off x="8042271" y="1543665"/>
            <a:ext cx="3529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Law of Proximity</a:t>
            </a:r>
          </a:p>
          <a:p>
            <a:r>
              <a:rPr lang="en-US" sz="1400" dirty="0"/>
              <a:t>Elements placed close together (like name + message) appear related, helping the user understand grouping instantly.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51A85-F92E-8317-621C-4DBC37DD9F72}"/>
              </a:ext>
            </a:extLst>
          </p:cNvPr>
          <p:cNvSpPr txBox="1"/>
          <p:nvPr/>
        </p:nvSpPr>
        <p:spPr>
          <a:xfrm>
            <a:off x="8042271" y="2713704"/>
            <a:ext cx="3815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Law of Continuity</a:t>
            </a:r>
          </a:p>
          <a:p>
            <a:r>
              <a:rPr lang="en-US" sz="1400" dirty="0"/>
              <a:t>All chats are aligned in a straight vertical column, creating a smooth natural reading flow from top to bottom.</a:t>
            </a:r>
            <a:endParaRPr lang="en-IN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EBC4DD-F165-40D7-D3C7-8795D0AF0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61" y="373626"/>
            <a:ext cx="2821858" cy="521109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DE9D58-96CC-9484-CE66-7FA1468E80C1}"/>
              </a:ext>
            </a:extLst>
          </p:cNvPr>
          <p:cNvSpPr txBox="1"/>
          <p:nvPr/>
        </p:nvSpPr>
        <p:spPr>
          <a:xfrm>
            <a:off x="8042271" y="3883743"/>
            <a:ext cx="3815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Law of Common Region</a:t>
            </a:r>
          </a:p>
          <a:p>
            <a:r>
              <a:rPr lang="en-US" sz="1400" dirty="0"/>
              <a:t>All filter buttons are inside a </a:t>
            </a:r>
            <a:r>
              <a:rPr lang="en-US" sz="1400" b="1" dirty="0"/>
              <a:t>common horizontal region</a:t>
            </a:r>
            <a:r>
              <a:rPr lang="en-US" sz="1400" dirty="0"/>
              <a:t>, showing they belong to the same category.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7FC08F-E5CE-7E5F-68C2-1D8999232159}"/>
              </a:ext>
            </a:extLst>
          </p:cNvPr>
          <p:cNvSpPr txBox="1"/>
          <p:nvPr/>
        </p:nvSpPr>
        <p:spPr>
          <a:xfrm>
            <a:off x="718271" y="373625"/>
            <a:ext cx="3440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Law of </a:t>
            </a:r>
            <a:r>
              <a:rPr lang="en-IN" dirty="0" err="1">
                <a:latin typeface="Algerian" panose="04020705040A02060702" pitchFamily="82" charset="0"/>
              </a:rPr>
              <a:t>Prägnanz</a:t>
            </a:r>
            <a:endParaRPr lang="en-IN" dirty="0">
              <a:latin typeface="Algerian" panose="04020705040A02060702" pitchFamily="82" charset="0"/>
            </a:endParaRPr>
          </a:p>
          <a:p>
            <a:r>
              <a:rPr lang="en-US" sz="1400" dirty="0"/>
              <a:t>WhatsApp keeps UI elements very simple, making the screen easy to scan and understand quickly.</a:t>
            </a:r>
            <a:endParaRPr lang="en-IN" sz="1400" dirty="0">
              <a:latin typeface="Algerian" panose="04020705040A02060702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EF94A-D009-27FB-C770-44E7D5FE6F9D}"/>
              </a:ext>
            </a:extLst>
          </p:cNvPr>
          <p:cNvSpPr txBox="1"/>
          <p:nvPr/>
        </p:nvSpPr>
        <p:spPr>
          <a:xfrm>
            <a:off x="718271" y="1689858"/>
            <a:ext cx="35194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1.Jakob’s Law</a:t>
            </a:r>
          </a:p>
          <a:p>
            <a:r>
              <a:rPr lang="en-US" sz="1400" dirty="0"/>
              <a:t>WhatsApp follows the </a:t>
            </a:r>
            <a:r>
              <a:rPr lang="en-US" sz="1400" b="1" dirty="0"/>
              <a:t>same navigation pattern</a:t>
            </a:r>
            <a:r>
              <a:rPr lang="en-US" sz="1400" dirty="0"/>
              <a:t> used by Instagram, Messenger, and other apps → users instantly understand how to navigate</a:t>
            </a:r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3329B7-4383-687C-6CAF-DF998F0516C0}"/>
              </a:ext>
            </a:extLst>
          </p:cNvPr>
          <p:cNvSpPr txBox="1"/>
          <p:nvPr/>
        </p:nvSpPr>
        <p:spPr>
          <a:xfrm>
            <a:off x="8101777" y="5053782"/>
            <a:ext cx="38154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Fitts’s Law</a:t>
            </a:r>
          </a:p>
          <a:p>
            <a:r>
              <a:rPr lang="en-US" sz="1400" dirty="0"/>
              <a:t>The button is large and close to the thumb area, making it very easy to tap quickly.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55097-277A-297C-2AF1-A6AA5879CD4E}"/>
              </a:ext>
            </a:extLst>
          </p:cNvPr>
          <p:cNvSpPr txBox="1"/>
          <p:nvPr/>
        </p:nvSpPr>
        <p:spPr>
          <a:xfrm>
            <a:off x="718271" y="3136818"/>
            <a:ext cx="31458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1.Hick’s Law</a:t>
            </a:r>
          </a:p>
          <a:p>
            <a:r>
              <a:rPr lang="en-US" sz="1400" dirty="0"/>
              <a:t>Only 4 options are shown, reducing decision time and making filtering faster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486126-F939-ACB6-02C8-0864E4AFABA0}"/>
              </a:ext>
            </a:extLst>
          </p:cNvPr>
          <p:cNvSpPr txBox="1"/>
          <p:nvPr/>
        </p:nvSpPr>
        <p:spPr>
          <a:xfrm>
            <a:off x="634439" y="4099187"/>
            <a:ext cx="36870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1.Miller’s Law</a:t>
            </a:r>
          </a:p>
          <a:p>
            <a:r>
              <a:rPr lang="en-US" sz="1400" dirty="0"/>
              <a:t>The bottom menu has 4–5 items, fitting within the recommended “7 ± 2” cognitive limit.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7927A-95CC-C053-3329-F11689A91BF7}"/>
              </a:ext>
            </a:extLst>
          </p:cNvPr>
          <p:cNvSpPr txBox="1"/>
          <p:nvPr/>
        </p:nvSpPr>
        <p:spPr>
          <a:xfrm>
            <a:off x="658765" y="5053782"/>
            <a:ext cx="33333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1.Serial Position Effect</a:t>
            </a:r>
          </a:p>
          <a:p>
            <a:r>
              <a:rPr lang="en-US" sz="1400" dirty="0"/>
              <a:t>The first chat (on the top) gets the most attention and highest recall due to its position.</a:t>
            </a:r>
            <a:endParaRPr lang="en-IN" sz="1400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5FE89-5A0E-9B9F-2058-9EEED2381F37}"/>
              </a:ext>
            </a:extLst>
          </p:cNvPr>
          <p:cNvSpPr txBox="1"/>
          <p:nvPr/>
        </p:nvSpPr>
        <p:spPr>
          <a:xfrm>
            <a:off x="4139252" y="5746873"/>
            <a:ext cx="38154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1.Zeigarnik Effect</a:t>
            </a:r>
          </a:p>
          <a:p>
            <a:r>
              <a:rPr lang="en-US" sz="1400" dirty="0"/>
              <a:t>Chats with unread messages create an </a:t>
            </a:r>
            <a:r>
              <a:rPr lang="en-US" sz="1400" b="1" dirty="0"/>
              <a:t>unfinished task</a:t>
            </a:r>
            <a:r>
              <a:rPr lang="en-US" sz="1400" dirty="0"/>
              <a:t>, pulling the user back to open them.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9160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F7BE4-4E53-A489-8CE0-4CE43CE62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352" y="25544"/>
            <a:ext cx="2938479" cy="54077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218A62-9490-10E1-C919-BB24A86C66A6}"/>
              </a:ext>
            </a:extLst>
          </p:cNvPr>
          <p:cNvSpPr txBox="1"/>
          <p:nvPr/>
        </p:nvSpPr>
        <p:spPr>
          <a:xfrm>
            <a:off x="7964130" y="186812"/>
            <a:ext cx="394273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Law of Similarity</a:t>
            </a:r>
          </a:p>
          <a:p>
            <a:r>
              <a:rPr lang="en-US" sz="1400" dirty="0"/>
              <a:t>All category cards share the </a:t>
            </a:r>
            <a:r>
              <a:rPr lang="en-US" sz="1400" b="1" dirty="0"/>
              <a:t>same shape, same background, same layout</a:t>
            </a:r>
            <a:r>
              <a:rPr lang="en-US" sz="1400" dirty="0"/>
              <a:t>, so users immediately recognize them as similar items belonging to one section.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F62A4-D959-48E9-B652-58BE4BC34E50}"/>
              </a:ext>
            </a:extLst>
          </p:cNvPr>
          <p:cNvSpPr txBox="1"/>
          <p:nvPr/>
        </p:nvSpPr>
        <p:spPr>
          <a:xfrm>
            <a:off x="7964129" y="1691148"/>
            <a:ext cx="3942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Law of Proximity</a:t>
            </a:r>
          </a:p>
          <a:p>
            <a:r>
              <a:rPr lang="en-US" sz="1400" dirty="0"/>
              <a:t>Items placed close together appear </a:t>
            </a:r>
            <a:r>
              <a:rPr lang="en-US" sz="1400" dirty="0" err="1"/>
              <a:t>related.Each</a:t>
            </a:r>
            <a:r>
              <a:rPr lang="en-US" sz="1400" dirty="0"/>
              <a:t> product image + label is grouped tightly, showing they belong to the same category card.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14599-440D-FE8D-CD1A-FB4D6EDAC1E7}"/>
              </a:ext>
            </a:extLst>
          </p:cNvPr>
          <p:cNvSpPr txBox="1"/>
          <p:nvPr/>
        </p:nvSpPr>
        <p:spPr>
          <a:xfrm>
            <a:off x="7964129" y="2980041"/>
            <a:ext cx="3854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Law of Common Region</a:t>
            </a:r>
          </a:p>
          <a:p>
            <a:r>
              <a:rPr lang="en-US" sz="1400" dirty="0"/>
              <a:t>Everything inside the </a:t>
            </a:r>
            <a:r>
              <a:rPr lang="en-US" sz="1400" b="1" dirty="0"/>
              <a:t>same background region</a:t>
            </a:r>
            <a:r>
              <a:rPr lang="en-US" sz="1400" dirty="0"/>
              <a:t> looks like part of one </a:t>
            </a:r>
            <a:r>
              <a:rPr lang="en-US" sz="1400" dirty="0" err="1"/>
              <a:t>section.“Snacks</a:t>
            </a:r>
            <a:r>
              <a:rPr lang="en-US" sz="1400" dirty="0"/>
              <a:t> &amp; Drinks” also has its own region, separating it from Grocery.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3CD6D-BAC9-DB96-8290-A37C372EE393}"/>
              </a:ext>
            </a:extLst>
          </p:cNvPr>
          <p:cNvSpPr txBox="1"/>
          <p:nvPr/>
        </p:nvSpPr>
        <p:spPr>
          <a:xfrm>
            <a:off x="7964129" y="4268934"/>
            <a:ext cx="41688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Law of </a:t>
            </a:r>
            <a:r>
              <a:rPr lang="en-IN" dirty="0" err="1">
                <a:latin typeface="Algerian" panose="04020705040A02060702" pitchFamily="82" charset="0"/>
              </a:rPr>
              <a:t>Prägnanz</a:t>
            </a:r>
            <a:endParaRPr lang="en-IN" dirty="0">
              <a:latin typeface="Algerian" panose="04020705040A02060702" pitchFamily="82" charset="0"/>
            </a:endParaRPr>
          </a:p>
          <a:p>
            <a:r>
              <a:rPr lang="en-US" sz="1400" dirty="0"/>
              <a:t>The design is clean, simple, and minimal — helping users quickly understand categories without confusion.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23434-BD92-7972-5EEB-26F00586DC4F}"/>
              </a:ext>
            </a:extLst>
          </p:cNvPr>
          <p:cNvSpPr txBox="1"/>
          <p:nvPr/>
        </p:nvSpPr>
        <p:spPr>
          <a:xfrm>
            <a:off x="7964129" y="5342383"/>
            <a:ext cx="39427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Law of Continuity</a:t>
            </a:r>
          </a:p>
          <a:p>
            <a:r>
              <a:rPr lang="en-US" sz="1400" dirty="0"/>
              <a:t>The eyes follow a smooth path across rows and down columns, making scanning easier.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E0266-F65A-011F-EDA4-68BF7B85C1D5}"/>
              </a:ext>
            </a:extLst>
          </p:cNvPr>
          <p:cNvSpPr txBox="1"/>
          <p:nvPr/>
        </p:nvSpPr>
        <p:spPr>
          <a:xfrm>
            <a:off x="383458" y="304801"/>
            <a:ext cx="384441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Fitts’s Law</a:t>
            </a:r>
          </a:p>
          <a:p>
            <a:r>
              <a:rPr lang="en-US" sz="1400" dirty="0"/>
              <a:t>It’s large, clearly visible, and easy to tap — reducing the effort needed to reach it.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C40FA1-FA9D-3093-10C4-924CB9FF4DDB}"/>
              </a:ext>
            </a:extLst>
          </p:cNvPr>
          <p:cNvSpPr txBox="1"/>
          <p:nvPr/>
        </p:nvSpPr>
        <p:spPr>
          <a:xfrm>
            <a:off x="383458" y="1417918"/>
            <a:ext cx="38444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Hick’s Law</a:t>
            </a:r>
          </a:p>
          <a:p>
            <a:r>
              <a:rPr lang="en-US" sz="1400" dirty="0"/>
              <a:t>Only a few category options are displayed at the top, reducing choice overload and making selection faster.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F3B4B9-66C7-6D44-FE10-98E75D410B25}"/>
              </a:ext>
            </a:extLst>
          </p:cNvPr>
          <p:cNvSpPr txBox="1"/>
          <p:nvPr/>
        </p:nvSpPr>
        <p:spPr>
          <a:xfrm>
            <a:off x="373626" y="2729416"/>
            <a:ext cx="359860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Miller’s Law</a:t>
            </a:r>
          </a:p>
          <a:p>
            <a:r>
              <a:rPr lang="en-US" sz="1400" dirty="0"/>
              <a:t>The number of options stays within the human memory limit of </a:t>
            </a:r>
            <a:r>
              <a:rPr lang="en-US" sz="1400" b="1" dirty="0"/>
              <a:t>7 ± 2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1B7366-D691-4CC8-46C9-7A5621449010}"/>
              </a:ext>
            </a:extLst>
          </p:cNvPr>
          <p:cNvSpPr txBox="1"/>
          <p:nvPr/>
        </p:nvSpPr>
        <p:spPr>
          <a:xfrm>
            <a:off x="383458" y="3825470"/>
            <a:ext cx="35887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Serial Position Effect</a:t>
            </a:r>
          </a:p>
          <a:p>
            <a:r>
              <a:rPr lang="en-US" sz="1400" dirty="0"/>
              <a:t>Items shown </a:t>
            </a:r>
            <a:r>
              <a:rPr lang="en-US" sz="1400" b="1" dirty="0"/>
              <a:t>first</a:t>
            </a:r>
            <a:r>
              <a:rPr lang="en-US" sz="1400" dirty="0"/>
              <a:t> are more likely to be remembered and clicked.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50CA9-345A-5A61-A25C-BCC9A4855161}"/>
              </a:ext>
            </a:extLst>
          </p:cNvPr>
          <p:cNvSpPr txBox="1"/>
          <p:nvPr/>
        </p:nvSpPr>
        <p:spPr>
          <a:xfrm>
            <a:off x="383458" y="4921524"/>
            <a:ext cx="3716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Jakob’s Law</a:t>
            </a:r>
          </a:p>
          <a:p>
            <a:r>
              <a:rPr lang="en-US" sz="1400" dirty="0" err="1"/>
              <a:t>Blinkit</a:t>
            </a:r>
            <a:r>
              <a:rPr lang="en-US" sz="1400" dirty="0"/>
              <a:t> follows the same familiar pattern used in other apps (Amazon, </a:t>
            </a:r>
            <a:r>
              <a:rPr lang="en-US" sz="1400" dirty="0" err="1"/>
              <a:t>Zepto</a:t>
            </a:r>
            <a:r>
              <a:rPr lang="en-US" sz="1400" dirty="0"/>
              <a:t>, Flipkart Grocery), so users instantly know how to navigate.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10BEEF-DDB5-55BF-38DF-6324607A4E2D}"/>
              </a:ext>
            </a:extLst>
          </p:cNvPr>
          <p:cNvSpPr txBox="1"/>
          <p:nvPr/>
        </p:nvSpPr>
        <p:spPr>
          <a:xfrm>
            <a:off x="4247535" y="5527049"/>
            <a:ext cx="371659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1.Law of Closure</a:t>
            </a:r>
          </a:p>
          <a:p>
            <a:r>
              <a:rPr lang="en-US" sz="1400" dirty="0"/>
              <a:t>The category icons (Wedding, Winter, Electronics, Beauty) use minimal outlines; even if parts are simple line drawings, the brain completes the full icon shape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3519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4B191-25C9-B4D9-23D6-928C9C9AA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4" y="275302"/>
            <a:ext cx="2978797" cy="60665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676AA1-1E71-E2E5-6E42-86A8A8DE0889}"/>
              </a:ext>
            </a:extLst>
          </p:cNvPr>
          <p:cNvSpPr txBox="1"/>
          <p:nvPr/>
        </p:nvSpPr>
        <p:spPr>
          <a:xfrm>
            <a:off x="7973962" y="275302"/>
            <a:ext cx="3942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Law of Similarity</a:t>
            </a:r>
          </a:p>
          <a:p>
            <a:r>
              <a:rPr lang="en-US" sz="1400" dirty="0"/>
              <a:t>All dashboard tiles have the </a:t>
            </a:r>
            <a:r>
              <a:rPr lang="en-US" sz="1400" b="1" dirty="0"/>
              <a:t>same card shape, icon style, and label placement</a:t>
            </a:r>
            <a:r>
              <a:rPr lang="en-US" sz="1400" dirty="0"/>
              <a:t>, helping users instantly recognize them as similar menu options.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9C8EA-FB69-9975-4929-D71C01EE98CB}"/>
              </a:ext>
            </a:extLst>
          </p:cNvPr>
          <p:cNvSpPr txBox="1"/>
          <p:nvPr/>
        </p:nvSpPr>
        <p:spPr>
          <a:xfrm>
            <a:off x="7973961" y="1543664"/>
            <a:ext cx="3942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Law of Proximity</a:t>
            </a:r>
          </a:p>
          <a:p>
            <a:r>
              <a:rPr lang="en-US" sz="1400" dirty="0"/>
              <a:t>Each icon and its text label are placed </a:t>
            </a:r>
            <a:r>
              <a:rPr lang="en-US" sz="1400" b="1" dirty="0"/>
              <a:t>close together</a:t>
            </a:r>
            <a:r>
              <a:rPr lang="en-US" sz="1400" dirty="0"/>
              <a:t>, showing they belong to the same module (e.g., Attendance, Assignment, Results).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81661-D455-A316-327D-42DBF54A3004}"/>
              </a:ext>
            </a:extLst>
          </p:cNvPr>
          <p:cNvSpPr txBox="1"/>
          <p:nvPr/>
        </p:nvSpPr>
        <p:spPr>
          <a:xfrm>
            <a:off x="7973961" y="2821858"/>
            <a:ext cx="3942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Law of Continuity</a:t>
            </a:r>
          </a:p>
          <a:p>
            <a:r>
              <a:rPr lang="en-US" sz="1400" dirty="0"/>
              <a:t>The cards are arranged in </a:t>
            </a:r>
            <a:r>
              <a:rPr lang="en-US" sz="1400" b="1" dirty="0"/>
              <a:t>straight grids and rows</a:t>
            </a:r>
            <a:r>
              <a:rPr lang="en-US" sz="1400" dirty="0"/>
              <a:t>, allowing the eyes to follow a smooth, continuous flow while scanning the dashboard.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66487-C95E-D418-F6C5-621185C47ABC}"/>
              </a:ext>
            </a:extLst>
          </p:cNvPr>
          <p:cNvSpPr txBox="1"/>
          <p:nvPr/>
        </p:nvSpPr>
        <p:spPr>
          <a:xfrm>
            <a:off x="7973961" y="4100052"/>
            <a:ext cx="3942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4.Law of Common Region</a:t>
            </a:r>
          </a:p>
          <a:p>
            <a:r>
              <a:rPr lang="en-US" sz="1400" dirty="0"/>
              <a:t>Each module is enclosed inside a </a:t>
            </a:r>
            <a:r>
              <a:rPr lang="en-US" sz="1400" b="1" dirty="0"/>
              <a:t>separate rounded rectangular card</a:t>
            </a:r>
            <a:r>
              <a:rPr lang="en-US" sz="1400" dirty="0"/>
              <a:t>, clearly grouping all elements belonging to that feature.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055A0-B62D-DDAE-2CA3-68FEE1E90B12}"/>
              </a:ext>
            </a:extLst>
          </p:cNvPr>
          <p:cNvSpPr txBox="1"/>
          <p:nvPr/>
        </p:nvSpPr>
        <p:spPr>
          <a:xfrm>
            <a:off x="7973961" y="5378246"/>
            <a:ext cx="41393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Law of </a:t>
            </a:r>
            <a:r>
              <a:rPr lang="en-IN" dirty="0" err="1">
                <a:latin typeface="Algerian" panose="04020705040A02060702" pitchFamily="82" charset="0"/>
              </a:rPr>
              <a:t>Prägnanz</a:t>
            </a:r>
            <a:endParaRPr lang="en-IN" dirty="0">
              <a:latin typeface="Algerian" panose="04020705040A02060702" pitchFamily="82" charset="0"/>
            </a:endParaRPr>
          </a:p>
          <a:p>
            <a:r>
              <a:rPr lang="en-US" sz="1400" dirty="0"/>
              <a:t>The icons are </a:t>
            </a:r>
            <a:r>
              <a:rPr lang="en-US" sz="1400" b="1" dirty="0"/>
              <a:t>simple line drawings</a:t>
            </a:r>
            <a:r>
              <a:rPr lang="en-US" sz="1400" dirty="0"/>
              <a:t>, colors are minimal, and the overall layout is clean, making it easy for users to scan and identify options quickly.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D2F0BF-BF60-5E3F-2A4A-21CB69C42394}"/>
              </a:ext>
            </a:extLst>
          </p:cNvPr>
          <p:cNvSpPr txBox="1"/>
          <p:nvPr/>
        </p:nvSpPr>
        <p:spPr>
          <a:xfrm>
            <a:off x="275301" y="177412"/>
            <a:ext cx="375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Fitts’s Law</a:t>
            </a:r>
          </a:p>
          <a:p>
            <a:r>
              <a:rPr lang="en-US" sz="1400" dirty="0"/>
              <a:t>The bottom navigation buttons and the dashboard tiles are </a:t>
            </a:r>
            <a:r>
              <a:rPr lang="en-US" sz="1400" b="1" dirty="0"/>
              <a:t>large tap targets</a:t>
            </a:r>
            <a:r>
              <a:rPr lang="en-US" sz="1400" dirty="0"/>
              <a:t>, making them easy to click quickly, especially on mobile.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1370A0-75CA-33D6-3C43-DEDE3A7E838A}"/>
              </a:ext>
            </a:extLst>
          </p:cNvPr>
          <p:cNvSpPr txBox="1"/>
          <p:nvPr/>
        </p:nvSpPr>
        <p:spPr>
          <a:xfrm>
            <a:off x="275301" y="1328221"/>
            <a:ext cx="375630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Hick’s Law</a:t>
            </a:r>
          </a:p>
          <a:p>
            <a:r>
              <a:rPr lang="en-US" sz="1400" dirty="0"/>
              <a:t>The dashboard organizes features into </a:t>
            </a:r>
            <a:r>
              <a:rPr lang="en-US" sz="1400" b="1" dirty="0"/>
              <a:t>simple categories with limited visible choices</a:t>
            </a:r>
            <a:r>
              <a:rPr lang="en-US" sz="1400" dirty="0"/>
              <a:t>, reducing decision-making time and making navigation faster.</a:t>
            </a:r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D4034-2D3E-A6F7-D4D6-FD84D3D854CD}"/>
              </a:ext>
            </a:extLst>
          </p:cNvPr>
          <p:cNvSpPr txBox="1"/>
          <p:nvPr/>
        </p:nvSpPr>
        <p:spPr>
          <a:xfrm>
            <a:off x="275298" y="2693000"/>
            <a:ext cx="375630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Miller’s Law</a:t>
            </a:r>
          </a:p>
          <a:p>
            <a:r>
              <a:rPr lang="en-US" sz="1400" dirty="0"/>
              <a:t>The dashboard shows options in </a:t>
            </a:r>
            <a:r>
              <a:rPr lang="en-US" sz="1400" b="1" dirty="0"/>
              <a:t>small chunks (rows of 3 items)</a:t>
            </a:r>
            <a:r>
              <a:rPr lang="en-US" sz="1400" dirty="0"/>
              <a:t>, keeping the information within the 7±2 limit and making it easy to remember and scan.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0DD2B7-9C8B-14F5-98E3-FE7E22BFF202}"/>
              </a:ext>
            </a:extLst>
          </p:cNvPr>
          <p:cNvSpPr txBox="1"/>
          <p:nvPr/>
        </p:nvSpPr>
        <p:spPr>
          <a:xfrm>
            <a:off x="275298" y="4178962"/>
            <a:ext cx="3756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Serial Position Effect</a:t>
            </a:r>
          </a:p>
          <a:p>
            <a:r>
              <a:rPr lang="en-US" sz="1400" dirty="0"/>
              <a:t>The first row of cards (Announce, Edu Revolution, Fee Statement) gets </a:t>
            </a:r>
            <a:r>
              <a:rPr lang="en-US" sz="1400" b="1" dirty="0"/>
              <a:t>maximum attention</a:t>
            </a:r>
            <a:r>
              <a:rPr lang="en-US" sz="1400" dirty="0"/>
              <a:t> because items at the top are noticed first.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F9B4C-AC89-03C3-1898-DB7116EC77D6}"/>
              </a:ext>
            </a:extLst>
          </p:cNvPr>
          <p:cNvSpPr txBox="1"/>
          <p:nvPr/>
        </p:nvSpPr>
        <p:spPr>
          <a:xfrm>
            <a:off x="275298" y="5378246"/>
            <a:ext cx="37562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Zeigarnik Effect</a:t>
            </a:r>
          </a:p>
          <a:p>
            <a:r>
              <a:rPr lang="en-US" sz="1400" dirty="0"/>
              <a:t>Notification badges (</a:t>
            </a:r>
            <a:r>
              <a:rPr lang="en-US" sz="1400" b="1" dirty="0"/>
              <a:t>0, 9, 2, 7.41, 88%</a:t>
            </a:r>
            <a:r>
              <a:rPr lang="en-US" sz="1400" dirty="0"/>
              <a:t>) on tiles show </a:t>
            </a:r>
            <a:r>
              <a:rPr lang="en-US" sz="1400" b="1" dirty="0"/>
              <a:t>incomplete tasks or pending actions</a:t>
            </a:r>
            <a:r>
              <a:rPr lang="en-US" sz="1400" dirty="0"/>
              <a:t>, encouraging the user to open them and complete the tasks.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4266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ECD60-0447-9708-DE96-D84B18F6A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73" y="383458"/>
            <a:ext cx="2967975" cy="6223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554D3E-C0FD-817D-70D6-4C7A8D78C0CA}"/>
              </a:ext>
            </a:extLst>
          </p:cNvPr>
          <p:cNvSpPr txBox="1"/>
          <p:nvPr/>
        </p:nvSpPr>
        <p:spPr>
          <a:xfrm>
            <a:off x="7846143" y="383458"/>
            <a:ext cx="3942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Law of Similarity</a:t>
            </a:r>
          </a:p>
          <a:p>
            <a:r>
              <a:rPr lang="en-US" sz="1400" dirty="0"/>
              <a:t>All status thumbnails have the </a:t>
            </a:r>
            <a:r>
              <a:rPr lang="en-US" sz="1400" b="1" dirty="0"/>
              <a:t>same circular shape and layout</a:t>
            </a:r>
            <a:r>
              <a:rPr lang="en-US" sz="1400" dirty="0"/>
              <a:t>, helping users instantly recognize them as similar status items.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878EC-F2BA-DC19-8EA8-0A549BFAB8EA}"/>
              </a:ext>
            </a:extLst>
          </p:cNvPr>
          <p:cNvSpPr txBox="1"/>
          <p:nvPr/>
        </p:nvSpPr>
        <p:spPr>
          <a:xfrm>
            <a:off x="7846143" y="1632155"/>
            <a:ext cx="3942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Law of Proximity</a:t>
            </a:r>
          </a:p>
          <a:p>
            <a:r>
              <a:rPr lang="en-US" sz="1400" dirty="0"/>
              <a:t>Each status image and the user’s name are placed </a:t>
            </a:r>
            <a:r>
              <a:rPr lang="en-US" sz="1400" b="1" dirty="0"/>
              <a:t>close together</a:t>
            </a:r>
            <a:r>
              <a:rPr lang="en-US" sz="1400" dirty="0"/>
              <a:t>, showing they belong to the same status update.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0B471-1CC2-4B07-D2AA-A3DD40B8C81C}"/>
              </a:ext>
            </a:extLst>
          </p:cNvPr>
          <p:cNvSpPr txBox="1"/>
          <p:nvPr/>
        </p:nvSpPr>
        <p:spPr>
          <a:xfrm>
            <a:off x="7934632" y="2910348"/>
            <a:ext cx="3942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Law of Common Region</a:t>
            </a:r>
          </a:p>
          <a:p>
            <a:r>
              <a:rPr lang="en-US" sz="1400" dirty="0"/>
              <a:t>Statuses are arranged inside a </a:t>
            </a:r>
            <a:r>
              <a:rPr lang="en-US" sz="1400" b="1" dirty="0"/>
              <a:t>horizontal scroll region</a:t>
            </a:r>
            <a:r>
              <a:rPr lang="en-US" sz="1400" dirty="0"/>
              <a:t>, separating them visually from the “Channels” section below.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D1FF0-6B9E-0EDA-A12B-1827BC2B069C}"/>
              </a:ext>
            </a:extLst>
          </p:cNvPr>
          <p:cNvSpPr txBox="1"/>
          <p:nvPr/>
        </p:nvSpPr>
        <p:spPr>
          <a:xfrm>
            <a:off x="7934632" y="4267200"/>
            <a:ext cx="385424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Law of Continuity</a:t>
            </a:r>
          </a:p>
          <a:p>
            <a:r>
              <a:rPr lang="en-US" sz="1400" dirty="0"/>
              <a:t>Statuses are placed in a </a:t>
            </a:r>
            <a:r>
              <a:rPr lang="en-US" sz="1400" b="1" dirty="0"/>
              <a:t>straight horizontal line</a:t>
            </a:r>
            <a:r>
              <a:rPr lang="en-US" sz="1400" dirty="0"/>
              <a:t>, guiding the user’s eyes smoothly from left to right.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DDC19-03FA-6106-49AB-27E75DCC2D19}"/>
              </a:ext>
            </a:extLst>
          </p:cNvPr>
          <p:cNvSpPr txBox="1"/>
          <p:nvPr/>
        </p:nvSpPr>
        <p:spPr>
          <a:xfrm>
            <a:off x="7934632" y="5338916"/>
            <a:ext cx="4011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Law of </a:t>
            </a:r>
            <a:r>
              <a:rPr lang="en-IN" dirty="0" err="1">
                <a:latin typeface="Algerian" panose="04020705040A02060702" pitchFamily="82" charset="0"/>
              </a:rPr>
              <a:t>Prägnanz</a:t>
            </a:r>
            <a:endParaRPr lang="en-IN" dirty="0">
              <a:latin typeface="Algerian" panose="04020705040A02060702" pitchFamily="82" charset="0"/>
            </a:endParaRPr>
          </a:p>
          <a:p>
            <a:r>
              <a:rPr lang="en-US" sz="1400" dirty="0"/>
              <a:t>The UI uses </a:t>
            </a:r>
            <a:r>
              <a:rPr lang="en-US" sz="1400" b="1" dirty="0"/>
              <a:t>simple icons, clean circles, and minimal colors</a:t>
            </a:r>
            <a:r>
              <a:rPr lang="en-US" sz="1400" dirty="0"/>
              <a:t>, making it easy to scan and understand at a glance.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C04F3-295E-A27F-8F98-6EA38149CD28}"/>
              </a:ext>
            </a:extLst>
          </p:cNvPr>
          <p:cNvSpPr txBox="1"/>
          <p:nvPr/>
        </p:nvSpPr>
        <p:spPr>
          <a:xfrm>
            <a:off x="481780" y="481781"/>
            <a:ext cx="3668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Fitts’s Law</a:t>
            </a:r>
          </a:p>
          <a:p>
            <a:r>
              <a:rPr lang="en-US" sz="1400" dirty="0"/>
              <a:t>The green </a:t>
            </a:r>
            <a:r>
              <a:rPr lang="en-US" sz="1400" b="1" dirty="0"/>
              <a:t>“Add Status”</a:t>
            </a:r>
            <a:r>
              <a:rPr lang="en-US" sz="1400" dirty="0"/>
              <a:t> and </a:t>
            </a:r>
            <a:r>
              <a:rPr lang="en-US" sz="1400" b="1" dirty="0"/>
              <a:t>pencil edit button</a:t>
            </a:r>
            <a:r>
              <a:rPr lang="en-US" sz="1400" dirty="0"/>
              <a:t> are large, easy-to-tap targets placed within natural thumb reach.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C2393-F8FD-5476-48F3-62032175123C}"/>
              </a:ext>
            </a:extLst>
          </p:cNvPr>
          <p:cNvSpPr txBox="1"/>
          <p:nvPr/>
        </p:nvSpPr>
        <p:spPr>
          <a:xfrm>
            <a:off x="481780" y="1680448"/>
            <a:ext cx="35803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Hick’s Law</a:t>
            </a:r>
          </a:p>
          <a:p>
            <a:r>
              <a:rPr lang="en-US" sz="1400" dirty="0"/>
              <a:t>Only four bottom menu items are shown, reducing decision time and helping users navigate faster.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E503A6-59A4-C2B5-8848-68BE343ED576}"/>
              </a:ext>
            </a:extLst>
          </p:cNvPr>
          <p:cNvSpPr txBox="1"/>
          <p:nvPr/>
        </p:nvSpPr>
        <p:spPr>
          <a:xfrm>
            <a:off x="481779" y="2900515"/>
            <a:ext cx="3668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</a:t>
            </a:r>
            <a:r>
              <a:rPr lang="en-IN" b="1" dirty="0">
                <a:latin typeface="Algerian" panose="04020705040A02060702" pitchFamily="82" charset="0"/>
              </a:rPr>
              <a:t> Serial Position Effect</a:t>
            </a:r>
          </a:p>
          <a:p>
            <a:r>
              <a:rPr lang="en-US" sz="1400" dirty="0"/>
              <a:t>The first status in the row gets </a:t>
            </a:r>
            <a:r>
              <a:rPr lang="en-US" sz="1400" b="1" dirty="0"/>
              <a:t>maximum attention</a:t>
            </a:r>
            <a:r>
              <a:rPr lang="en-US" sz="1400" dirty="0"/>
              <a:t>, as users naturally focus on the first visible item.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6A338-36DF-883D-8382-4FE36ABBAC1D}"/>
              </a:ext>
            </a:extLst>
          </p:cNvPr>
          <p:cNvSpPr txBox="1"/>
          <p:nvPr/>
        </p:nvSpPr>
        <p:spPr>
          <a:xfrm>
            <a:off x="481779" y="4099182"/>
            <a:ext cx="358031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Jakob’s Law</a:t>
            </a:r>
          </a:p>
          <a:p>
            <a:r>
              <a:rPr lang="en-US" sz="1400" dirty="0"/>
              <a:t>The bottom navigation bar (Chats, Updates, Communities, Calls) follows the </a:t>
            </a:r>
            <a:r>
              <a:rPr lang="en-US" sz="1400" b="1" dirty="0"/>
              <a:t>same familiar layout</a:t>
            </a:r>
            <a:r>
              <a:rPr lang="en-US" sz="1400" dirty="0"/>
              <a:t> used by many social apps, reducing learning effort.</a:t>
            </a:r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B85DA-9F4A-0D1B-AD20-D0987F512171}"/>
              </a:ext>
            </a:extLst>
          </p:cNvPr>
          <p:cNvSpPr txBox="1"/>
          <p:nvPr/>
        </p:nvSpPr>
        <p:spPr>
          <a:xfrm>
            <a:off x="481779" y="5513292"/>
            <a:ext cx="3580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Zeigarnik Effect</a:t>
            </a:r>
          </a:p>
          <a:p>
            <a:r>
              <a:rPr lang="en-US" sz="1400" dirty="0"/>
              <a:t>Unseen statuses have a </a:t>
            </a:r>
            <a:r>
              <a:rPr lang="en-US" sz="1400" b="1" dirty="0"/>
              <a:t>colored ring</a:t>
            </a:r>
            <a:r>
              <a:rPr lang="en-US" sz="1400" dirty="0"/>
              <a:t>, reminding the user that they have unfinished viewing tasks.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1170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98636-36F3-6F39-D7DA-5C8BA4802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4" y="324464"/>
            <a:ext cx="3057455" cy="57125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F44326-9929-D941-4BE8-C2A329C8D879}"/>
              </a:ext>
            </a:extLst>
          </p:cNvPr>
          <p:cNvSpPr txBox="1"/>
          <p:nvPr/>
        </p:nvSpPr>
        <p:spPr>
          <a:xfrm>
            <a:off x="8013290" y="570271"/>
            <a:ext cx="37460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Jakob’s Law</a:t>
            </a:r>
          </a:p>
          <a:p>
            <a:r>
              <a:rPr lang="en-US" sz="1400" dirty="0" err="1"/>
              <a:t>PhonePe</a:t>
            </a:r>
            <a:r>
              <a:rPr lang="en-US" sz="1400" dirty="0"/>
              <a:t> uses a </a:t>
            </a:r>
            <a:r>
              <a:rPr lang="en-US" sz="1400" b="1" dirty="0"/>
              <a:t>bottom navigation bar</a:t>
            </a:r>
            <a:r>
              <a:rPr lang="en-US" sz="1400" dirty="0"/>
              <a:t> (Home, Search, Scan, Alerts, History), which is a familiar pattern used by many apps like Google Pay, Paytm, Amazon, Flipkart.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1F360-64A3-0A2B-A787-42F61888F839}"/>
              </a:ext>
            </a:extLst>
          </p:cNvPr>
          <p:cNvSpPr txBox="1"/>
          <p:nvPr/>
        </p:nvSpPr>
        <p:spPr>
          <a:xfrm>
            <a:off x="8013291" y="2113935"/>
            <a:ext cx="374609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Miller’s Law</a:t>
            </a:r>
          </a:p>
          <a:p>
            <a:r>
              <a:rPr lang="en-US" sz="1400" dirty="0"/>
              <a:t>Information is divided into </a:t>
            </a:r>
            <a:r>
              <a:rPr lang="en-US" sz="1400" b="1" dirty="0"/>
              <a:t>small chunks</a:t>
            </a:r>
            <a:r>
              <a:rPr lang="en-US" sz="1400" dirty="0"/>
              <a:t> such as Money Transfers, Recharge &amp; Bills, Loans, Insurance, Travel, </a:t>
            </a:r>
            <a:r>
              <a:rPr lang="en-US" sz="1400" dirty="0" err="1"/>
              <a:t>etc.This</a:t>
            </a:r>
            <a:r>
              <a:rPr lang="en-US" sz="1400" dirty="0"/>
              <a:t> keeps content within human memory limits and prevents overload.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B040C-4EEE-E7FB-C6CF-EC7F699ADB25}"/>
              </a:ext>
            </a:extLst>
          </p:cNvPr>
          <p:cNvSpPr txBox="1"/>
          <p:nvPr/>
        </p:nvSpPr>
        <p:spPr>
          <a:xfrm>
            <a:off x="8013289" y="3657599"/>
            <a:ext cx="374609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Hick’s Law</a:t>
            </a:r>
          </a:p>
          <a:p>
            <a:r>
              <a:rPr lang="en-US" sz="1400" dirty="0"/>
              <a:t>At the top, only </a:t>
            </a:r>
            <a:r>
              <a:rPr lang="en-US" sz="1400" b="1" dirty="0"/>
              <a:t>4 main money transfer options</a:t>
            </a:r>
            <a:r>
              <a:rPr lang="en-US" sz="1400" dirty="0"/>
              <a:t> are shown (To Mobile, To Bank, Refer, Check Balance).Limiting choices helps users make faster decisions.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4CD13-D39E-A9FB-EE21-82F13B5FCE91}"/>
              </a:ext>
            </a:extLst>
          </p:cNvPr>
          <p:cNvSpPr txBox="1"/>
          <p:nvPr/>
        </p:nvSpPr>
        <p:spPr>
          <a:xfrm>
            <a:off x="511277" y="570271"/>
            <a:ext cx="35596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Serial Position Effect</a:t>
            </a:r>
          </a:p>
          <a:p>
            <a:r>
              <a:rPr lang="en-US" sz="1400" dirty="0"/>
              <a:t>Items shown at the </a:t>
            </a:r>
            <a:r>
              <a:rPr lang="en-US" sz="1400" b="1" dirty="0"/>
              <a:t>top of the screen</a:t>
            </a:r>
            <a:r>
              <a:rPr lang="en-US" sz="1400" dirty="0"/>
              <a:t> (Money Transfers) get the most attention because users naturally focus on the first visible </a:t>
            </a:r>
            <a:r>
              <a:rPr lang="en-US" sz="1400" dirty="0" err="1"/>
              <a:t>section.This</a:t>
            </a:r>
            <a:r>
              <a:rPr lang="en-US" sz="1400" dirty="0"/>
              <a:t> makes users more likely to select those actions first.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2BB2C-F170-78E0-29C6-A728702CB745}"/>
              </a:ext>
            </a:extLst>
          </p:cNvPr>
          <p:cNvSpPr txBox="1"/>
          <p:nvPr/>
        </p:nvSpPr>
        <p:spPr>
          <a:xfrm>
            <a:off x="471949" y="2526890"/>
            <a:ext cx="3598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4. Zeigarnik Effect</a:t>
            </a:r>
          </a:p>
          <a:p>
            <a:r>
              <a:rPr lang="en-US" sz="1400" dirty="0"/>
              <a:t>The notification badge (1) on </a:t>
            </a:r>
            <a:r>
              <a:rPr lang="en-US" sz="1400" b="1" dirty="0"/>
              <a:t>Alerts</a:t>
            </a:r>
            <a:r>
              <a:rPr lang="en-US" sz="1400" dirty="0"/>
              <a:t> icon at the bottom indicates an </a:t>
            </a:r>
            <a:r>
              <a:rPr lang="en-US" sz="1400" b="1" dirty="0"/>
              <a:t>unfinished task</a:t>
            </a:r>
            <a:r>
              <a:rPr lang="en-US" sz="1400" dirty="0"/>
              <a:t>, reminding the user to check pending alerts.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8963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BEAFA-D971-9A55-A861-E1F2FD05B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481780"/>
            <a:ext cx="2968964" cy="59878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5F0260-86B4-1D27-05D2-A6F2E9683358}"/>
              </a:ext>
            </a:extLst>
          </p:cNvPr>
          <p:cNvSpPr txBox="1"/>
          <p:nvPr/>
        </p:nvSpPr>
        <p:spPr>
          <a:xfrm>
            <a:off x="8180438" y="698090"/>
            <a:ext cx="356910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Zeigarnik Effect</a:t>
            </a:r>
          </a:p>
          <a:p>
            <a:r>
              <a:rPr lang="en-US" sz="1400" dirty="0"/>
              <a:t>The notification badge </a:t>
            </a:r>
            <a:r>
              <a:rPr lang="en-US" sz="1400" b="1" dirty="0"/>
              <a:t>(3)</a:t>
            </a:r>
            <a:r>
              <a:rPr lang="en-US" sz="1400" dirty="0"/>
              <a:t> on the top-right (</a:t>
            </a:r>
            <a:r>
              <a:rPr lang="en-US" sz="1400" dirty="0" err="1"/>
              <a:t>wishlist</a:t>
            </a:r>
            <a:r>
              <a:rPr lang="en-US" sz="1400" dirty="0"/>
              <a:t>/cart/notification) signals </a:t>
            </a:r>
            <a:r>
              <a:rPr lang="en-US" sz="1400" b="1" dirty="0"/>
              <a:t>unfinished actions</a:t>
            </a:r>
            <a:r>
              <a:rPr lang="en-US" sz="1400" dirty="0"/>
              <a:t>, encouraging users to tap and complete them.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6F51B-A3A4-0BDF-A1E7-5EEB4892CD5C}"/>
              </a:ext>
            </a:extLst>
          </p:cNvPr>
          <p:cNvSpPr txBox="1"/>
          <p:nvPr/>
        </p:nvSpPr>
        <p:spPr>
          <a:xfrm>
            <a:off x="8180437" y="2438400"/>
            <a:ext cx="37657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Miller’s Law</a:t>
            </a:r>
          </a:p>
          <a:p>
            <a:r>
              <a:rPr lang="en-US" sz="1400" dirty="0"/>
              <a:t>Categories are broken into </a:t>
            </a:r>
            <a:r>
              <a:rPr lang="en-US" sz="1400" b="1" dirty="0"/>
              <a:t>small chunks</a:t>
            </a:r>
            <a:r>
              <a:rPr lang="en-US" sz="1400" dirty="0"/>
              <a:t> such as Men’s Wear, Women’s Wear, Kids Wear, Footwear, etc., so users don’t feel overloaded with too many options at once.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E36BA-E189-B784-46A3-9CF5429876D9}"/>
              </a:ext>
            </a:extLst>
          </p:cNvPr>
          <p:cNvSpPr txBox="1"/>
          <p:nvPr/>
        </p:nvSpPr>
        <p:spPr>
          <a:xfrm>
            <a:off x="398585" y="698090"/>
            <a:ext cx="376575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5. Jakob’s Law</a:t>
            </a:r>
          </a:p>
          <a:p>
            <a:r>
              <a:rPr lang="en-US" sz="1400" dirty="0"/>
              <a:t>The layout follows a </a:t>
            </a:r>
            <a:r>
              <a:rPr lang="en-US" sz="1400" b="1" dirty="0"/>
              <a:t>familiar e-commerce pattern</a:t>
            </a:r>
            <a:r>
              <a:rPr lang="en-US" sz="1400" dirty="0"/>
              <a:t> used by apps like Amazon, Ajio, Flipkart—categories on the left, subcategories on the </a:t>
            </a:r>
            <a:r>
              <a:rPr lang="en-US" sz="1400" dirty="0" err="1"/>
              <a:t>right.This</a:t>
            </a:r>
            <a:r>
              <a:rPr lang="en-US" sz="1400" dirty="0"/>
              <a:t> makes the screen easy to understand because users already know how such layouts work.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5ABEE-F17B-8A63-B07E-1532D59AEC41}"/>
              </a:ext>
            </a:extLst>
          </p:cNvPr>
          <p:cNvSpPr txBox="1"/>
          <p:nvPr/>
        </p:nvSpPr>
        <p:spPr>
          <a:xfrm>
            <a:off x="398585" y="2899649"/>
            <a:ext cx="363793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2. Law of Closure</a:t>
            </a:r>
          </a:p>
          <a:p>
            <a:r>
              <a:rPr lang="en-US" sz="1400" dirty="0"/>
              <a:t>Some icons in the circular category images contain </a:t>
            </a:r>
            <a:r>
              <a:rPr lang="en-US" sz="1400" b="1" dirty="0"/>
              <a:t>incomplete outlines</a:t>
            </a:r>
            <a:r>
              <a:rPr lang="en-US" sz="1400" dirty="0"/>
              <a:t> (e.g., “Winter Specials” circle border fades), yet users perceive them as complete circles.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E9056-5155-2F50-CE5A-D7F2C53BABC0}"/>
              </a:ext>
            </a:extLst>
          </p:cNvPr>
          <p:cNvSpPr txBox="1"/>
          <p:nvPr/>
        </p:nvSpPr>
        <p:spPr>
          <a:xfrm>
            <a:off x="398585" y="4670322"/>
            <a:ext cx="36379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3. Law of Closure</a:t>
            </a:r>
          </a:p>
          <a:p>
            <a:r>
              <a:rPr lang="en-US" sz="1400" dirty="0"/>
              <a:t>The heart (</a:t>
            </a:r>
            <a:r>
              <a:rPr lang="en-US" sz="1400" dirty="0" err="1"/>
              <a:t>wishlist</a:t>
            </a:r>
            <a:r>
              <a:rPr lang="en-US" sz="1400" dirty="0"/>
              <a:t>) and bag (cart) icons are drawn with </a:t>
            </a:r>
            <a:r>
              <a:rPr lang="en-US" sz="1400" b="1" dirty="0"/>
              <a:t>incomplete outlines</a:t>
            </a:r>
            <a:r>
              <a:rPr lang="en-US" sz="1400" dirty="0"/>
              <a:t>, but the user still recognizes them as complete shapes. The brain fills the missing parts automatically — an example of the Law of Closure.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23490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193</TotalTime>
  <Words>1642</Words>
  <Application>Microsoft Office PowerPoint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Yogita Yadav</dc:creator>
  <cp:lastModifiedBy>Yogita Yadav</cp:lastModifiedBy>
  <cp:revision>2</cp:revision>
  <dcterms:created xsi:type="dcterms:W3CDTF">2025-11-27T09:14:53Z</dcterms:created>
  <dcterms:modified xsi:type="dcterms:W3CDTF">2025-11-27T18:30:23Z</dcterms:modified>
</cp:coreProperties>
</file>