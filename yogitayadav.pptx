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Noto Sans TC" panose="020B0604020202020204" charset="-128"/>
      <p:regular r:id="rId12"/>
    </p:embeddedFont>
    <p:embeddedFont>
      <p:font typeface="Sora Medium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2956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svg"/><Relationship Id="rId9" Type="http://schemas.openxmlformats.org/officeDocument/2006/relationships/image" Target="../media/image16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g"/><Relationship Id="rId3" Type="http://schemas.openxmlformats.org/officeDocument/2006/relationships/image" Target="../media/image17.jpg"/><Relationship Id="rId7" Type="http://schemas.openxmlformats.org/officeDocument/2006/relationships/image" Target="../media/image2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0.jpg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31369"/>
            <a:ext cx="12914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Journey Mapping at the College Kitchenette 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735461"/>
            <a:ext cx="5564862" cy="3807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19674" y="2684383"/>
            <a:ext cx="6924437" cy="37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👩‍🎓</a:t>
            </a: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</a:t>
            </a:r>
            <a:r>
              <a:rPr lang="en-US" sz="17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Name:</a:t>
            </a: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Yogita Yadav 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919674" y="3266599"/>
            <a:ext cx="69244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     </a:t>
            </a:r>
            <a:r>
              <a:rPr lang="en-US" sz="17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Student ID:</a:t>
            </a: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12304886 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919674" y="3833574"/>
            <a:ext cx="69244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      Roll No:</a:t>
            </a: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19</a:t>
            </a:r>
            <a:endParaRPr lang="en-US" sz="17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F34714-7361-111C-85A5-66507CA93AF1}"/>
              </a:ext>
            </a:extLst>
          </p:cNvPr>
          <p:cNvSpPr/>
          <p:nvPr/>
        </p:nvSpPr>
        <p:spPr>
          <a:xfrm>
            <a:off x="12667785" y="7750098"/>
            <a:ext cx="1862254" cy="36290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39522"/>
            <a:ext cx="794051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What is a User Journey Map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1527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Definition: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2867382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 </a:t>
            </a:r>
            <a:r>
              <a:rPr lang="en-US" sz="17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User Journey Map</a:t>
            </a: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is a tool used in design and research to visualize how a person interacts with a product, service, or environment over time.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18290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Purpose: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93790" y="483500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It helps us understand the </a:t>
            </a:r>
            <a:r>
              <a:rPr lang="en-US" sz="17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user's experience step-by-step</a:t>
            </a: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— what they do, think, and feel — and find ways to make those experiences smoother and more enjoyable.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221527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Benefits: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7599521" y="286738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Reveals moments of frustration and delight.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330958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Shows emotional highs and lows throughout a process.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375177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Helps designers improve real-world experiences.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419397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Encourages empathy by seeing through the user's eyes.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6382941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In short, a user journey map helps bridge the gap between </a:t>
            </a:r>
            <a:r>
              <a:rPr lang="en-US" sz="2200" b="1" dirty="0">
                <a:solidFill>
                  <a:srgbClr val="7AF0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what people experience</a:t>
            </a:r>
            <a:r>
              <a:rPr lang="en-US" sz="22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and </a:t>
            </a:r>
            <a:r>
              <a:rPr lang="en-US" sz="2200" b="1" dirty="0">
                <a:solidFill>
                  <a:srgbClr val="7AF0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what designers can improve</a:t>
            </a:r>
            <a:r>
              <a:rPr lang="en-US" sz="22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.</a:t>
            </a:r>
            <a:endParaRPr lang="en-US" sz="22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6EF850-709D-207C-7741-52FC0F4B3AC8}"/>
              </a:ext>
            </a:extLst>
          </p:cNvPr>
          <p:cNvSpPr/>
          <p:nvPr/>
        </p:nvSpPr>
        <p:spPr>
          <a:xfrm>
            <a:off x="12667785" y="7750098"/>
            <a:ext cx="1862254" cy="36290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2102" y="488752"/>
            <a:ext cx="4443770" cy="555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Problem Statement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22102" y="1399580"/>
            <a:ext cx="13386197" cy="710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The chosen activity is the </a:t>
            </a:r>
            <a:r>
              <a:rPr lang="en-US" sz="170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student experience at the college kitchenette </a:t>
            </a:r>
            <a:r>
              <a:rPr lang="en-US" sz="17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. Students visit to check menus, order food, wait, collect their meals, eat, and clean up before leaving.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22102" y="2310289"/>
            <a:ext cx="6604278" cy="1716762"/>
          </a:xfrm>
          <a:prstGeom prst="roundRect">
            <a:avLst>
              <a:gd name="adj" fmla="val 1553"/>
            </a:avLst>
          </a:prstGeom>
          <a:solidFill>
            <a:srgbClr val="26262B"/>
          </a:solidFill>
          <a:ln/>
        </p:spPr>
      </p:sp>
      <p:sp>
        <p:nvSpPr>
          <p:cNvPr id="5" name="Text 3"/>
          <p:cNvSpPr/>
          <p:nvPr/>
        </p:nvSpPr>
        <p:spPr>
          <a:xfrm>
            <a:off x="799743" y="2487930"/>
            <a:ext cx="2221825" cy="277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Objective: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99743" y="2872145"/>
            <a:ext cx="6248995" cy="568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To understand how design, communication, and waiting time impact the student's journey and emotions.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404021" y="2310289"/>
            <a:ext cx="6604278" cy="1716762"/>
          </a:xfrm>
          <a:prstGeom prst="roundRect">
            <a:avLst>
              <a:gd name="adj" fmla="val 1553"/>
            </a:avLst>
          </a:prstGeom>
          <a:solidFill>
            <a:srgbClr val="26262B"/>
          </a:solidFill>
          <a:ln/>
        </p:spPr>
      </p:sp>
      <p:sp>
        <p:nvSpPr>
          <p:cNvPr id="8" name="Text 6"/>
          <p:cNvSpPr/>
          <p:nvPr/>
        </p:nvSpPr>
        <p:spPr>
          <a:xfrm>
            <a:off x="7581662" y="2487930"/>
            <a:ext cx="2221825" cy="277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Key Questions: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81662" y="2872145"/>
            <a:ext cx="6248995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What are the main stages in this everyday activity?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581662" y="3218617"/>
            <a:ext cx="6248995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Where do students feel comfortable or frustrated?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581662" y="3565088"/>
            <a:ext cx="6248995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How can better design improve their experience?</a:t>
            </a:r>
            <a:endParaRPr lang="en-US" sz="13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02" y="4426863"/>
            <a:ext cx="5232440" cy="358009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295787" y="4404598"/>
            <a:ext cx="2991326" cy="33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Challenges Observed:</a:t>
            </a:r>
            <a:endParaRPr lang="en-US" sz="2050" dirty="0"/>
          </a:p>
        </p:txBody>
      </p:sp>
      <p:sp>
        <p:nvSpPr>
          <p:cNvPr id="14" name="Text 11"/>
          <p:cNvSpPr/>
          <p:nvPr/>
        </p:nvSpPr>
        <p:spPr>
          <a:xfrm>
            <a:off x="6295787" y="4915376"/>
            <a:ext cx="7720013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Small or unclear menu displays.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295787" y="5261848"/>
            <a:ext cx="7720013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Long waiting times for food tokens.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295787" y="5608320"/>
            <a:ext cx="7720013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Crowded pickup and washing areas.</a:t>
            </a:r>
            <a:endParaRPr lang="en-US" sz="13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42232C-94AE-5315-C4D5-91B9EA708651}"/>
              </a:ext>
            </a:extLst>
          </p:cNvPr>
          <p:cNvSpPr/>
          <p:nvPr/>
        </p:nvSpPr>
        <p:spPr>
          <a:xfrm>
            <a:off x="12667785" y="7750098"/>
            <a:ext cx="1862254" cy="36290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9827" y="408503"/>
            <a:ext cx="3713678" cy="464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User Journey Map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19827" y="932021"/>
            <a:ext cx="2298144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Stage 1: </a:t>
            </a:r>
            <a:r>
              <a:rPr lang="en-US" sz="145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🍽️</a:t>
            </a:r>
            <a:r>
              <a:rPr lang="en-US" sz="1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Decide to Eat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19827" y="1535430"/>
            <a:ext cx="1856780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User Actions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19827" y="1916073"/>
            <a:ext cx="3125867" cy="23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Feels hungry, walks to kitchenette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015740" y="1535430"/>
            <a:ext cx="1856780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Touchpoints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015740" y="1916073"/>
            <a:ext cx="3125867" cy="23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Pathway, signboard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511653" y="1535430"/>
            <a:ext cx="1856780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Emotions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511653" y="1916073"/>
            <a:ext cx="3125867" cy="23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Hungry, eager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1007566" y="1535430"/>
            <a:ext cx="2551986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Pain Points / Opportunities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1007566" y="1916073"/>
            <a:ext cx="3125867" cy="23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Excited to eat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19827" y="2528520"/>
            <a:ext cx="13590746" cy="26075"/>
          </a:xfrm>
          <a:prstGeom prst="rect">
            <a:avLst/>
          </a:prstGeom>
          <a:solidFill>
            <a:srgbClr val="E0D6DE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19827" y="2777252"/>
            <a:ext cx="2245876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Stage 2: </a:t>
            </a:r>
            <a:r>
              <a:rPr lang="en-US" sz="145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📋</a:t>
            </a:r>
            <a:r>
              <a:rPr lang="en-US" sz="1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Check Menu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19827" y="3380661"/>
            <a:ext cx="1856780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User Actions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19827" y="3761303"/>
            <a:ext cx="3125867" cy="23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Reads display, compares prices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015740" y="3380661"/>
            <a:ext cx="1856780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Touchpoints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015740" y="3761303"/>
            <a:ext cx="3125867" cy="23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Menu board, screen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511653" y="3380661"/>
            <a:ext cx="1856780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Emotions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511653" y="3761303"/>
            <a:ext cx="3125867" cy="23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Curious → Confused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007566" y="3380661"/>
            <a:ext cx="2551986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Pain Points / Opportunities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1007566" y="3761303"/>
            <a:ext cx="3125867" cy="23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97B8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Text unclear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19827" y="4373751"/>
            <a:ext cx="13590746" cy="26075"/>
          </a:xfrm>
          <a:prstGeom prst="rect">
            <a:avLst/>
          </a:prstGeom>
          <a:solidFill>
            <a:srgbClr val="E0D6DE">
              <a:alpha val="5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19827" y="4622483"/>
            <a:ext cx="2172176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Stage 3: </a:t>
            </a:r>
            <a:r>
              <a:rPr lang="en-US" sz="145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💳</a:t>
            </a:r>
            <a:r>
              <a:rPr lang="en-US" sz="1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Pay &amp; Order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19827" y="5225891"/>
            <a:ext cx="1856780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User Actions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19827" y="5606534"/>
            <a:ext cx="3125867" cy="23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Pays via cash/QR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015740" y="5225891"/>
            <a:ext cx="1856780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Touchpoints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015740" y="5606534"/>
            <a:ext cx="3125867" cy="23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Counter, cashier, app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511653" y="5225891"/>
            <a:ext cx="1856780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Emotions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511653" y="5606534"/>
            <a:ext cx="3125867" cy="23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Neutral → Satisfied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007566" y="5225891"/>
            <a:ext cx="2551986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Pain Points / Opportunities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11007566" y="5606534"/>
            <a:ext cx="3125867" cy="23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Quick payments help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19827" y="6218982"/>
            <a:ext cx="13590746" cy="26075"/>
          </a:xfrm>
          <a:prstGeom prst="rect">
            <a:avLst/>
          </a:prstGeom>
          <a:solidFill>
            <a:srgbClr val="E0D6DE">
              <a:alpha val="5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19827" y="6467713"/>
            <a:ext cx="2440900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Stage 4: </a:t>
            </a:r>
            <a:r>
              <a:rPr lang="en-US" sz="145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⏳</a:t>
            </a:r>
            <a:r>
              <a:rPr lang="en-US" sz="1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Wait for Token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519827" y="7071122"/>
            <a:ext cx="1856780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User Actions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519827" y="7451765"/>
            <a:ext cx="3125867" cy="23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Takes token, finds seat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015740" y="7071122"/>
            <a:ext cx="1856780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Touchpoints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4015740" y="7451765"/>
            <a:ext cx="3125867" cy="23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Token slip, seating area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511653" y="7071122"/>
            <a:ext cx="1856780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Emotions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7511653" y="7451765"/>
            <a:ext cx="3125867" cy="23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Slightly impatient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1007566" y="7071122"/>
            <a:ext cx="2551986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Pain Points / Opportunities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11007566" y="7451765"/>
            <a:ext cx="3125867" cy="23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No waiting time info</a:t>
            </a:r>
            <a:endParaRPr lang="en-US" sz="115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4A50428-4A67-331C-DEF4-6CFCD0E8CCA8}"/>
              </a:ext>
            </a:extLst>
          </p:cNvPr>
          <p:cNvSpPr/>
          <p:nvPr/>
        </p:nvSpPr>
        <p:spPr>
          <a:xfrm>
            <a:off x="12667785" y="7750098"/>
            <a:ext cx="1862254" cy="36290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User Journey Map 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96835" y="711518"/>
            <a:ext cx="1804035" cy="184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Stage 5: </a:t>
            </a:r>
            <a:r>
              <a:rPr lang="en-US" sz="11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📦</a:t>
            </a:r>
            <a:r>
              <a:rPr lang="en-US" sz="11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Collect Order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96835" y="1179671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User Actions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96835" y="1470184"/>
            <a:ext cx="325159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Sees token number, collects food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932753" y="1179671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Touchpoints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32753" y="1470184"/>
            <a:ext cx="325159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Display screen, counter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468672" y="1179671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Emotions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68672" y="1470184"/>
            <a:ext cx="325159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Excited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004590" y="1179671"/>
            <a:ext cx="1947982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Pain Points / Opportunities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004590" y="1470184"/>
            <a:ext cx="325159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97B8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Crowded area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96835" y="1937878"/>
            <a:ext cx="13836729" cy="21788"/>
          </a:xfrm>
          <a:prstGeom prst="rect">
            <a:avLst/>
          </a:prstGeom>
          <a:solidFill>
            <a:srgbClr val="E0D6DE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96835" y="2129671"/>
            <a:ext cx="1453634" cy="184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Stage 6: </a:t>
            </a:r>
            <a:r>
              <a:rPr lang="en-US" sz="11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🍕</a:t>
            </a:r>
            <a:r>
              <a:rPr lang="en-US" sz="11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Eat Food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6835" y="2597825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User Actions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6835" y="2888337"/>
            <a:ext cx="325159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Eats with friends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932753" y="2597825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Touchpoints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32753" y="2888337"/>
            <a:ext cx="325159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Table, utensils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468672" y="2597825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Emotions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68672" y="2888337"/>
            <a:ext cx="325159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Relaxed, joyful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004590" y="2597825"/>
            <a:ext cx="1947982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Pain Points / Opportunities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004590" y="2888337"/>
            <a:ext cx="325159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Pleasant moment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96835" y="3356031"/>
            <a:ext cx="13836729" cy="21788"/>
          </a:xfrm>
          <a:prstGeom prst="rect">
            <a:avLst/>
          </a:prstGeom>
          <a:solidFill>
            <a:srgbClr val="E0D6DE">
              <a:alpha val="5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96835" y="3547824"/>
            <a:ext cx="1696760" cy="184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Stage 7: </a:t>
            </a:r>
            <a:r>
              <a:rPr lang="en-US" sz="11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🧼</a:t>
            </a:r>
            <a:r>
              <a:rPr lang="en-US" sz="11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Return Plate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6835" y="4015978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User Actions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6835" y="4306491"/>
            <a:ext cx="325159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Puts plate in washing area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932753" y="4015978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Touchpoints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32753" y="4306491"/>
            <a:ext cx="325159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Sink, rack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468672" y="4015978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Emotions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68672" y="4306491"/>
            <a:ext cx="325159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Responsible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004590" y="4015978"/>
            <a:ext cx="1947982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Pain Points / Opportunities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004590" y="4306491"/>
            <a:ext cx="325159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97B8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Crowded area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96835" y="4774185"/>
            <a:ext cx="13836729" cy="21788"/>
          </a:xfrm>
          <a:prstGeom prst="rect">
            <a:avLst/>
          </a:prstGeom>
          <a:solidFill>
            <a:srgbClr val="E0D6DE">
              <a:alpha val="5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96835" y="4965978"/>
            <a:ext cx="2290286" cy="184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Stage 8: </a:t>
            </a:r>
            <a:r>
              <a:rPr lang="en-US" sz="11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🚪</a:t>
            </a:r>
            <a:r>
              <a:rPr lang="en-US" sz="11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Wash Hands &amp; Leave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96835" y="5434132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User Actions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96835" y="5724644"/>
            <a:ext cx="325159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Cleans hands, exits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932753" y="5434132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Touchpoints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932753" y="5724644"/>
            <a:ext cx="325159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Basin, napkin area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468672" y="5434132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Emotions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468672" y="5724644"/>
            <a:ext cx="325159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Fresh, content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1004590" y="5434132"/>
            <a:ext cx="1947982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Pain Points / Opportunities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1004590" y="5724644"/>
            <a:ext cx="325159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Smooth ending</a:t>
            </a:r>
            <a:endParaRPr lang="en-US" sz="85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224213A-36AC-64B5-968F-70F868A89D7F}"/>
              </a:ext>
            </a:extLst>
          </p:cNvPr>
          <p:cNvSpPr/>
          <p:nvPr/>
        </p:nvSpPr>
        <p:spPr>
          <a:xfrm>
            <a:off x="12667785" y="7750098"/>
            <a:ext cx="1862254" cy="36290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9133" y="534591"/>
            <a:ext cx="4851440" cy="606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Emotional Curve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79133" y="1218486"/>
            <a:ext cx="5706904" cy="363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Emotional Flow During the Experience:</a:t>
            </a:r>
            <a:endParaRPr lang="en-US" sz="2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133" y="1873329"/>
            <a:ext cx="970240" cy="11643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43326" y="2067282"/>
            <a:ext cx="2425660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Decide to Eat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843326" y="2486739"/>
            <a:ext cx="12107942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🙂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133" y="3037642"/>
            <a:ext cx="970240" cy="1164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43326" y="3231594"/>
            <a:ext cx="2425660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Check Menu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1843326" y="3651052"/>
            <a:ext cx="12107942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😐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133" y="4201954"/>
            <a:ext cx="970240" cy="116431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843326" y="4395907"/>
            <a:ext cx="2425660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Wait for Token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1843326" y="4815364"/>
            <a:ext cx="12107942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😔</a:t>
            </a:r>
            <a:endParaRPr lang="en-US" sz="15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133" y="5366266"/>
            <a:ext cx="970240" cy="116431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843326" y="5560219"/>
            <a:ext cx="2425660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Eat Food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1843326" y="5979676"/>
            <a:ext cx="12107942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😀</a:t>
            </a:r>
            <a:endParaRPr lang="en-US" sz="15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133" y="6530578"/>
            <a:ext cx="970240" cy="116431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843326" y="6724531"/>
            <a:ext cx="2425660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Leave </a:t>
            </a:r>
            <a:endParaRPr lang="en-US" sz="1900" dirty="0"/>
          </a:p>
        </p:txBody>
      </p:sp>
      <p:sp>
        <p:nvSpPr>
          <p:cNvPr id="18" name="Text 11"/>
          <p:cNvSpPr/>
          <p:nvPr/>
        </p:nvSpPr>
        <p:spPr>
          <a:xfrm>
            <a:off x="1843326" y="7143988"/>
            <a:ext cx="12107942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😊</a:t>
            </a:r>
            <a:endParaRPr lang="en-US" sz="15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D9D4E59-88DE-1F67-357A-4B2E5F9AC316}"/>
              </a:ext>
            </a:extLst>
          </p:cNvPr>
          <p:cNvSpPr/>
          <p:nvPr/>
        </p:nvSpPr>
        <p:spPr>
          <a:xfrm>
            <a:off x="12667785" y="7750098"/>
            <a:ext cx="1862254" cy="36290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86739"/>
            <a:ext cx="901100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Emotional Curve Interpretation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649147"/>
            <a:ext cx="4196358" cy="2093714"/>
          </a:xfrm>
          <a:prstGeom prst="roundRect">
            <a:avLst>
              <a:gd name="adj" fmla="val 1625"/>
            </a:avLst>
          </a:prstGeom>
          <a:solidFill>
            <a:srgbClr val="07070C"/>
          </a:solidFill>
          <a:ln w="30480">
            <a:solidFill>
              <a:srgbClr val="3F3F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39064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The Dip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084" y="4396859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The emotional curve dips during the waiting period.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649147"/>
            <a:ext cx="4196358" cy="2093714"/>
          </a:xfrm>
          <a:prstGeom prst="roundRect">
            <a:avLst>
              <a:gd name="adj" fmla="val 1625"/>
            </a:avLst>
          </a:prstGeom>
          <a:solidFill>
            <a:srgbClr val="07070C"/>
          </a:solidFill>
          <a:ln w="30480">
            <a:solidFill>
              <a:srgbClr val="3F3F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74256" y="39064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The Peak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74256" y="4396859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The happiest points are receiving and eating the food.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649147"/>
            <a:ext cx="4196358" cy="2093714"/>
          </a:xfrm>
          <a:prstGeom prst="roundRect">
            <a:avLst>
              <a:gd name="adj" fmla="val 1625"/>
            </a:avLst>
          </a:prstGeom>
          <a:solidFill>
            <a:srgbClr val="07070C"/>
          </a:solidFill>
          <a:ln w="30480">
            <a:solidFill>
              <a:srgbClr val="3F3F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97427" y="39064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The Opportunity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97427" y="4396859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Improving queue management and visibility can lift overall satisfaction.</a:t>
            </a:r>
            <a:endParaRPr lang="en-US" sz="17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10BCFC-DE41-B9FA-8B6C-CD8F195C395C}"/>
              </a:ext>
            </a:extLst>
          </p:cNvPr>
          <p:cNvSpPr/>
          <p:nvPr/>
        </p:nvSpPr>
        <p:spPr>
          <a:xfrm>
            <a:off x="12667785" y="7750098"/>
            <a:ext cx="1862254" cy="36290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6355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Reflection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63058"/>
            <a:ext cx="618089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Insights from Observation:</a:t>
            </a:r>
            <a:endParaRPr lang="en-US" sz="3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521273"/>
            <a:ext cx="226814" cy="226814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3825240"/>
            <a:ext cx="4196358" cy="30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93790" y="3999548"/>
            <a:ext cx="41963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Waiting Phase Creates Dissatisfaction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793790" y="4844296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The waiting phase creates the most dissatisfaction due to lack of clarity.</a:t>
            </a:r>
            <a:endParaRPr lang="en-US" sz="1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16962" y="3521273"/>
            <a:ext cx="226814" cy="226814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962" y="3825240"/>
            <a:ext cx="4196358" cy="3048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216962" y="3999548"/>
            <a:ext cx="41963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Happiness Through Connection</a:t>
            </a:r>
            <a:endParaRPr lang="en-US" sz="2200" dirty="0"/>
          </a:p>
        </p:txBody>
      </p:sp>
      <p:sp>
        <p:nvSpPr>
          <p:cNvPr id="11" name="Text 5"/>
          <p:cNvSpPr/>
          <p:nvPr/>
        </p:nvSpPr>
        <p:spPr>
          <a:xfrm>
            <a:off x="5216962" y="4844296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Students feel happiest when food is served quickly and shared with friends.</a:t>
            </a:r>
            <a:endParaRPr lang="en-US" sz="17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640133" y="3521273"/>
            <a:ext cx="226814" cy="226814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0133" y="3825240"/>
            <a:ext cx="4196358" cy="3048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9640133" y="3999548"/>
            <a:ext cx="41963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Simple Design Improvements</a:t>
            </a:r>
            <a:endParaRPr lang="en-US" sz="2200" dirty="0"/>
          </a:p>
        </p:txBody>
      </p:sp>
      <p:sp>
        <p:nvSpPr>
          <p:cNvPr id="15" name="Text 7"/>
          <p:cNvSpPr/>
          <p:nvPr/>
        </p:nvSpPr>
        <p:spPr>
          <a:xfrm>
            <a:off x="9640133" y="4844296"/>
            <a:ext cx="419635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Simple design improvements — like </a:t>
            </a:r>
            <a:r>
              <a:rPr lang="en-US" sz="17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digital waiting updates</a:t>
            </a: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, </a:t>
            </a:r>
            <a:r>
              <a:rPr lang="en-US" sz="17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clearer menu text</a:t>
            </a: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, and </a:t>
            </a:r>
            <a:r>
              <a:rPr lang="en-US" sz="17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organized collection areas</a:t>
            </a: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— can make a big difference.</a:t>
            </a: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C6221D-7B36-E74E-63B9-EAA87AF2604E}"/>
              </a:ext>
            </a:extLst>
          </p:cNvPr>
          <p:cNvSpPr/>
          <p:nvPr/>
        </p:nvSpPr>
        <p:spPr>
          <a:xfrm>
            <a:off x="12667785" y="7750098"/>
            <a:ext cx="1862254" cy="36290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9"/>
          <p:cNvSpPr/>
          <p:nvPr/>
        </p:nvSpPr>
        <p:spPr>
          <a:xfrm>
            <a:off x="9810155" y="1704975"/>
            <a:ext cx="4309943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88296D-3B2A-707A-1FD0-69BA518F231D}"/>
              </a:ext>
            </a:extLst>
          </p:cNvPr>
          <p:cNvSpPr/>
          <p:nvPr/>
        </p:nvSpPr>
        <p:spPr>
          <a:xfrm>
            <a:off x="12667785" y="7750098"/>
            <a:ext cx="1862254" cy="36290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FDFA7B8-F26D-4E2D-17B9-3EAB416C0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3266" y="309813"/>
            <a:ext cx="4326670" cy="274041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A639D3E-A420-D978-A267-F936670C96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871" y="309813"/>
            <a:ext cx="3969095" cy="2790324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1A000037-945F-6FAE-471D-E1FF246923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7135" y="309814"/>
            <a:ext cx="4107191" cy="282160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80921CAB-F7F2-0930-8792-210ACDEF6C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871" y="3423351"/>
            <a:ext cx="3969096" cy="4028622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F9A20CF0-7EA6-3E44-7AC8-A4FC3C9D86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3266" y="3423350"/>
            <a:ext cx="4432607" cy="4028621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F18E7EFD-FCDF-8E89-A7BB-28B1BBAB852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07135" y="3423351"/>
            <a:ext cx="4309944" cy="38054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619</Words>
  <Application>Microsoft Office PowerPoint</Application>
  <PresentationFormat>Custom</PresentationFormat>
  <Paragraphs>137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Sora Medium</vt:lpstr>
      <vt:lpstr>Arial</vt:lpstr>
      <vt:lpstr>Noto Sans TC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Yogita Yadav</cp:lastModifiedBy>
  <cp:revision>3</cp:revision>
  <dcterms:created xsi:type="dcterms:W3CDTF">2025-10-28T16:17:49Z</dcterms:created>
  <dcterms:modified xsi:type="dcterms:W3CDTF">2025-10-28T16:33:50Z</dcterms:modified>
</cp:coreProperties>
</file>