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38"/>
  </p:notesMasterIdLst>
  <p:sldIdLst>
    <p:sldId id="276" r:id="rId2"/>
    <p:sldId id="256" r:id="rId3"/>
    <p:sldId id="258" r:id="rId4"/>
    <p:sldId id="259" r:id="rId5"/>
    <p:sldId id="261" r:id="rId6"/>
    <p:sldId id="263" r:id="rId7"/>
    <p:sldId id="265" r:id="rId8"/>
    <p:sldId id="267" r:id="rId9"/>
    <p:sldId id="269" r:id="rId10"/>
    <p:sldId id="271" r:id="rId11"/>
    <p:sldId id="273" r:id="rId12"/>
    <p:sldId id="274" r:id="rId13"/>
    <p:sldId id="277" r:id="rId14"/>
    <p:sldId id="279" r:id="rId15"/>
    <p:sldId id="278" r:id="rId16"/>
    <p:sldId id="280" r:id="rId17"/>
    <p:sldId id="281" r:id="rId18"/>
    <p:sldId id="282" r:id="rId19"/>
    <p:sldId id="284" r:id="rId20"/>
    <p:sldId id="285" r:id="rId21"/>
    <p:sldId id="286" r:id="rId22"/>
    <p:sldId id="288" r:id="rId23"/>
    <p:sldId id="287" r:id="rId24"/>
    <p:sldId id="283" r:id="rId25"/>
    <p:sldId id="289" r:id="rId26"/>
    <p:sldId id="291" r:id="rId27"/>
    <p:sldId id="292" r:id="rId28"/>
    <p:sldId id="293" r:id="rId29"/>
    <p:sldId id="290" r:id="rId30"/>
    <p:sldId id="294" r:id="rId31"/>
    <p:sldId id="295" r:id="rId32"/>
    <p:sldId id="298" r:id="rId33"/>
    <p:sldId id="299" r:id="rId34"/>
    <p:sldId id="297" r:id="rId35"/>
    <p:sldId id="296" r:id="rId36"/>
    <p:sldId id="300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02C263-1C27-43C4-839A-F5395C4D937D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989D9-35E4-4DD7-9E77-B81635C067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222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989D9-35E4-4DD7-9E77-B81635C0670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327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989D9-35E4-4DD7-9E77-B81635C0670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743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032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579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368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13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56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84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722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6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98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729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573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7688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28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2177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760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666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814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7DA15BA-F9C1-402E-B0D7-A4992AF88DE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24D3877-364A-4ABD-9086-A6F9B8758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2818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jpg"/><Relationship Id="rId4" Type="http://schemas.openxmlformats.org/officeDocument/2006/relationships/image" Target="../media/image56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jpg"/><Relationship Id="rId4" Type="http://schemas.openxmlformats.org/officeDocument/2006/relationships/image" Target="../media/image5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7E93B3-D801-5CEB-12E1-98477D884837}"/>
              </a:ext>
            </a:extLst>
          </p:cNvPr>
          <p:cNvSpPr txBox="1"/>
          <p:nvPr/>
        </p:nvSpPr>
        <p:spPr>
          <a:xfrm>
            <a:off x="2205134" y="794802"/>
            <a:ext cx="867436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i="1" dirty="0">
                <a:solidFill>
                  <a:srgbClr val="FF0000"/>
                </a:solidFill>
              </a:rPr>
              <a:t>CA-1</a:t>
            </a:r>
          </a:p>
          <a:p>
            <a:pPr algn="ctr"/>
            <a:r>
              <a:rPr lang="en-IN" sz="3600" i="1" dirty="0"/>
              <a:t>UI UX</a:t>
            </a:r>
          </a:p>
          <a:p>
            <a:pPr algn="ctr"/>
            <a:r>
              <a:rPr lang="en-IN" sz="3600" i="1" dirty="0"/>
              <a:t>Name: Yogita Yadav</a:t>
            </a:r>
          </a:p>
          <a:p>
            <a:pPr algn="ctr"/>
            <a:r>
              <a:rPr lang="en-IN" sz="3600" i="1" dirty="0"/>
              <a:t>Reg. No. : 12304886</a:t>
            </a:r>
          </a:p>
          <a:p>
            <a:pPr algn="ctr"/>
            <a:r>
              <a:rPr lang="en-IN" sz="3600" i="1" dirty="0"/>
              <a:t>Section : 4OM78</a:t>
            </a:r>
          </a:p>
          <a:p>
            <a:pPr algn="ctr"/>
            <a:r>
              <a:rPr lang="en-IN" sz="3600" i="1" dirty="0"/>
              <a:t>Roll No. : 17</a:t>
            </a:r>
          </a:p>
          <a:p>
            <a:pPr algn="ctr"/>
            <a:r>
              <a:rPr lang="en-IN" sz="3200" i="1" dirty="0"/>
              <a:t>                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2323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1BF152-3A96-159B-2914-F373D0314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996" y="268630"/>
            <a:ext cx="3141874" cy="60711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9A937A-D7BD-F554-2A49-D1600BC64473}"/>
              </a:ext>
            </a:extLst>
          </p:cNvPr>
          <p:cNvSpPr txBox="1"/>
          <p:nvPr/>
        </p:nvSpPr>
        <p:spPr>
          <a:xfrm>
            <a:off x="5439748" y="830714"/>
            <a:ext cx="63065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Simple and clean layout makes the screen easy to understand and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Pre-filled country code (+91) makes input faster and more convenient.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instruction text helps users know exactly what action to take.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Call-to-Action Button.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OTP message builds trust and explains next step.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5673C-C685-A26D-769D-A0FE23899E7C}"/>
              </a:ext>
            </a:extLst>
          </p:cNvPr>
          <p:cNvSpPr txBox="1"/>
          <p:nvPr/>
        </p:nvSpPr>
        <p:spPr>
          <a:xfrm>
            <a:off x="5439748" y="3558083"/>
            <a:ext cx="57010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much empty space makes the screen feel less engaging.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Input field is not clearly visible or highlighted.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sign-up option for new users.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Weak visual hierarchy reduces focus on key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Unclear button text may confuse users 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480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2BAE9F5-F1BA-9212-4F3A-3E27D70A2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751" y="425182"/>
            <a:ext cx="3080531" cy="584421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4D3C43C-FD7C-CB60-809D-418636E5C990}"/>
              </a:ext>
            </a:extLst>
          </p:cNvPr>
          <p:cNvSpPr txBox="1"/>
          <p:nvPr/>
        </p:nvSpPr>
        <p:spPr>
          <a:xfrm>
            <a:off x="5411755" y="890395"/>
            <a:ext cx="62577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Rewards card adds engagement and motivates users to continue using app.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Attractive food banner grabs attention and creates visual appeal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Category icons with images make menu browsing easy and intuitive.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pickup information with location and ETA improves user clarity.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Order status bar gives real-time update and quick access to action.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BD90CB-4F1D-2654-D2E4-F6043D1C5F20}"/>
              </a:ext>
            </a:extLst>
          </p:cNvPr>
          <p:cNvSpPr txBox="1"/>
          <p:nvPr/>
        </p:nvSpPr>
        <p:spPr>
          <a:xfrm>
            <a:off x="5411755" y="3936280"/>
            <a:ext cx="60975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slightly crowded with multiple sections and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Prominent Search Bar.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Some text is too small to read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Visual hierarchy is weak, important elements don’t stand out clearly.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much scrolling needed to explore full menu.</a:t>
            </a:r>
          </a:p>
        </p:txBody>
      </p:sp>
    </p:spTree>
    <p:extLst>
      <p:ext uri="{BB962C8B-B14F-4D97-AF65-F5344CB8AC3E}">
        <p14:creationId xmlns:p14="http://schemas.microsoft.com/office/powerpoint/2010/main" val="1017054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F686A6-7B8C-3ED5-E916-64A87B51C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617" y="136474"/>
            <a:ext cx="3165231" cy="62864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9CD8FC-6742-1B20-9C4C-1F97DAAC393E}"/>
              </a:ext>
            </a:extLst>
          </p:cNvPr>
          <p:cNvSpPr txBox="1"/>
          <p:nvPr/>
        </p:nvSpPr>
        <p:spPr>
          <a:xfrm>
            <a:off x="5327781" y="411531"/>
            <a:ext cx="59172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Category tabs with active highlight make current section clearly visible.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Grouping items under headings like “Special Thali” improves content structure. </a:t>
            </a:r>
            <a:endParaRPr lang="en-IN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“Add” button with “customizable” label informs users about available options.</a:t>
            </a:r>
            <a:endParaRPr lang="en-IN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price display helps quick decision making without confusion.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IN" dirty="0">
                <a:solidFill>
                  <a:srgbClr val="00B050"/>
                </a:solidFill>
              </a:rPr>
              <a:t>Veg indicator provides quick visual identification for dietary preference.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EC2400-E73F-0E82-0581-11599F4AB70F}"/>
              </a:ext>
            </a:extLst>
          </p:cNvPr>
          <p:cNvSpPr txBox="1"/>
          <p:nvPr/>
        </p:nvSpPr>
        <p:spPr>
          <a:xfrm>
            <a:off x="5327781" y="3663640"/>
            <a:ext cx="60975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</a:rPr>
              <a:t>No filter/sort options for better menu exploration.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Limited detailed info like ingredients or nutrition.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Important details like customization are not clickable or clearly explained.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Description text is truncated with “More” but not very noticeable or accessible.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ratings or reviews make it hard to judge item quality. 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77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F52506F-EF4A-97F2-0F89-65B042299EA8}"/>
              </a:ext>
            </a:extLst>
          </p:cNvPr>
          <p:cNvSpPr txBox="1"/>
          <p:nvPr/>
        </p:nvSpPr>
        <p:spPr>
          <a:xfrm>
            <a:off x="5001208" y="645437"/>
            <a:ext cx="62795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section grouping like “Side Option”, “Meal Addon”, improves form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Use of radio buttons and checkboxes makes selection type clear.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Price for each option is clearly visible, avoiding confusion.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Instruction text like “select any one option” guides user 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Error message at bottom provides feedback when selection is incomplete .</a:t>
            </a:r>
            <a:endParaRPr lang="en-IN" dirty="0">
              <a:solidFill>
                <a:srgbClr val="00B05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4AAEF9-D60A-B465-0D30-DDB538EBE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605" y="140365"/>
            <a:ext cx="3165231" cy="63160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582F50-BE6C-4AD9-E30A-AAC90ECA1FDB}"/>
              </a:ext>
            </a:extLst>
          </p:cNvPr>
          <p:cNvSpPr txBox="1"/>
          <p:nvPr/>
        </p:nvSpPr>
        <p:spPr>
          <a:xfrm>
            <a:off x="5001208" y="3106722"/>
            <a:ext cx="60975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crowded with too many options in one 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Small text size reduces readability, especially for descriptions.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Lack of visual separation between sections makes it harder to scan.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images for add-ons makes options less engaging and harder to choose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Error message placement at bottom is not very prominent or attention-grabbing.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620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EDA019-3541-D4D7-B1A3-8316C931A2D9}"/>
              </a:ext>
            </a:extLst>
          </p:cNvPr>
          <p:cNvSpPr txBox="1"/>
          <p:nvPr/>
        </p:nvSpPr>
        <p:spPr>
          <a:xfrm>
            <a:off x="4696329" y="1166842"/>
            <a:ext cx="64346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cart summary with item details and customization improves transparency.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Easy quantity control with “+ / –” buttons supports quick modification.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Coupon section is clearly visible and easy to access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Detailed price breakdown builds trust and avoids confusion.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Strong and visible “Pay” button makes final action clear.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00B05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A3B61-AE58-8228-A3BB-BAB2E3452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743" y="358877"/>
            <a:ext cx="3165231" cy="6315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D6A0B7-CC6E-3132-2367-C4D6198A85F9}"/>
              </a:ext>
            </a:extLst>
          </p:cNvPr>
          <p:cNvSpPr txBox="1"/>
          <p:nvPr/>
        </p:nvSpPr>
        <p:spPr>
          <a:xfrm>
            <a:off x="4696329" y="3475166"/>
            <a:ext cx="60975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crowded with multiple sections stacked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Item customization details are text-heavy and hard to quickly scan.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 Rewards banner takes space but is not very actionable.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Coupon section adds extra step instead of quick apply 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Total amount is not strongly highlighted compared to other text.</a:t>
            </a:r>
          </a:p>
        </p:txBody>
      </p:sp>
    </p:spTree>
    <p:extLst>
      <p:ext uri="{BB962C8B-B14F-4D97-AF65-F5344CB8AC3E}">
        <p14:creationId xmlns:p14="http://schemas.microsoft.com/office/powerpoint/2010/main" val="2776026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8EFA36-5B5F-E1AD-8F22-DBB267B8FECD}"/>
              </a:ext>
            </a:extLst>
          </p:cNvPr>
          <p:cNvSpPr txBox="1"/>
          <p:nvPr/>
        </p:nvSpPr>
        <p:spPr>
          <a:xfrm>
            <a:off x="4740593" y="713661"/>
            <a:ext cx="60979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Bottom sheet layout keeps context of cart while selecting slot.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heading “Pick-up timing” makes purpose of screen obvious.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Date and time slots are clearly displayed for easy selection.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 Warning message informs users about impact of changing slot.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“Confirm Slot” button is large and easy to access.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5A3B7-FAB8-3F13-A726-0A0D3A9E5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503" y="363895"/>
            <a:ext cx="2975901" cy="59156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D3DBE5-29BD-CB97-1974-3FD48449517D}"/>
              </a:ext>
            </a:extLst>
          </p:cNvPr>
          <p:cNvSpPr txBox="1"/>
          <p:nvPr/>
        </p:nvSpPr>
        <p:spPr>
          <a:xfrm>
            <a:off x="4740943" y="3218690"/>
            <a:ext cx="60975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Background cart content creates slight distraction from slot selection.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 Selected slot is not strongly highlighted for clear visibility.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Warning message text is prominent but may create confusion or hesitation.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Limited guidance on available slots or how to choose best option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quick suggestions like “earliest available” to speed up decision.</a:t>
            </a:r>
          </a:p>
        </p:txBody>
      </p:sp>
    </p:spTree>
    <p:extLst>
      <p:ext uri="{BB962C8B-B14F-4D97-AF65-F5344CB8AC3E}">
        <p14:creationId xmlns:p14="http://schemas.microsoft.com/office/powerpoint/2010/main" val="3295981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F4826E-D158-8C6B-2BAA-4B4111EE51BE}"/>
              </a:ext>
            </a:extLst>
          </p:cNvPr>
          <p:cNvSpPr txBox="1"/>
          <p:nvPr/>
        </p:nvSpPr>
        <p:spPr>
          <a:xfrm>
            <a:off x="4997294" y="596682"/>
            <a:ext cx="60979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Multiple payment options provide flexibility for different user preferences.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 Recommended payment method helps users choose quickly.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Offers and cashback are clearly highlighted to attract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Payment methods are grouped (UPI, Cards) for better organization.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 Clear total amount with “Continue” button makes next action obvious.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DFDBBF-2410-A56E-65AE-F38DA4292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339" y="31600"/>
            <a:ext cx="3165231" cy="64854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1B6CA9-FC8C-0440-9716-AB8C3B3519C1}"/>
              </a:ext>
            </a:extLst>
          </p:cNvPr>
          <p:cNvSpPr txBox="1"/>
          <p:nvPr/>
        </p:nvSpPr>
        <p:spPr>
          <a:xfrm>
            <a:off x="4997294" y="3576744"/>
            <a:ext cx="56769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slightly cluttered with offers and multiple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Selected payment option is not strongly.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Offer details are truncated and not fully clear.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many choices may slow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quick pay or default option for faster checkout.</a:t>
            </a:r>
          </a:p>
        </p:txBody>
      </p:sp>
    </p:spTree>
    <p:extLst>
      <p:ext uri="{BB962C8B-B14F-4D97-AF65-F5344CB8AC3E}">
        <p14:creationId xmlns:p14="http://schemas.microsoft.com/office/powerpoint/2010/main" val="1265619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FB606F-38AC-0398-5D4E-352CD2D5C8FF}"/>
              </a:ext>
            </a:extLst>
          </p:cNvPr>
          <p:cNvSpPr txBox="1"/>
          <p:nvPr/>
        </p:nvSpPr>
        <p:spPr>
          <a:xfrm>
            <a:off x="5100163" y="758041"/>
            <a:ext cx="60979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Detailed pickup address provides clarity and avoids confusion.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“Address” and “Direction” options improve usability and navigation.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Pickup time with “Change” option gives flexibility to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payment method display keeps user informed before checkout.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 Strong “Pay” button makes final action clear and accessible.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09309B-200C-BF4B-6889-9F79B78C3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6" y="92073"/>
            <a:ext cx="3165231" cy="64102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CF77D9-5F1F-8CD5-C231-47815B695FC8}"/>
              </a:ext>
            </a:extLst>
          </p:cNvPr>
          <p:cNvSpPr txBox="1"/>
          <p:nvPr/>
        </p:nvSpPr>
        <p:spPr>
          <a:xfrm>
            <a:off x="5100163" y="3514636"/>
            <a:ext cx="60975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Address text is too long and hard to quickly scan.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crowded with too much information stacked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Important details like total amount are not strongly highlighted.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Address section takes large space pushing key actions downward.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Limited visual hierarchy makes sections look similar and harder to prioritize.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906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974FFE-8208-A6AE-42F6-915727CEDD98}"/>
              </a:ext>
            </a:extLst>
          </p:cNvPr>
          <p:cNvSpPr txBox="1"/>
          <p:nvPr/>
        </p:nvSpPr>
        <p:spPr>
          <a:xfrm>
            <a:off x="5283043" y="872341"/>
            <a:ext cx="60979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order status “Preparing” keeps user informed in real-time.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Order ID and time provide proper tracking and reference.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Item details with image, quantity, and price are easy to understand.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Billing breakdown with total improves transparency and trust.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Pickup details with address and time give clear delivery information.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9B345-5F36-E226-6D6F-FDBF3CCDC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61" y="314558"/>
            <a:ext cx="3163253" cy="62288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93281A-B335-8371-C8BE-44493D2F1F09}"/>
              </a:ext>
            </a:extLst>
          </p:cNvPr>
          <p:cNvSpPr txBox="1"/>
          <p:nvPr/>
        </p:nvSpPr>
        <p:spPr>
          <a:xfrm>
            <a:off x="5283043" y="3576744"/>
            <a:ext cx="56380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visual progress tracker to show order stages.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has too much empty space at the bottom.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“Help” option is small and not very prominent.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Important info like total amount is not strongly highlighted.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estimated ready time countdown or live update feedback.</a:t>
            </a:r>
          </a:p>
        </p:txBody>
      </p:sp>
    </p:spTree>
    <p:extLst>
      <p:ext uri="{BB962C8B-B14F-4D97-AF65-F5344CB8AC3E}">
        <p14:creationId xmlns:p14="http://schemas.microsoft.com/office/powerpoint/2010/main" val="1816947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4B55CB-564B-2939-E070-761D17EBF20F}"/>
              </a:ext>
            </a:extLst>
          </p:cNvPr>
          <p:cNvSpPr txBox="1"/>
          <p:nvPr/>
        </p:nvSpPr>
        <p:spPr>
          <a:xfrm>
            <a:off x="5277803" y="792331"/>
            <a:ext cx="60979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side navigation menu makes options easily accessible.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User name display adds personalization and improves user connection.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Icons with text improve quick recognition of menu items.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Well-structured list of options keeps navigation simple and organized.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Important sections like “Your Orders” and “Account” are easy to find.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4165E8-BA54-6915-BDAF-DC102AD1D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678" y="325844"/>
            <a:ext cx="3165231" cy="61036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1D56D0-914C-D773-95FC-92CDFFC49369}"/>
              </a:ext>
            </a:extLst>
          </p:cNvPr>
          <p:cNvSpPr txBox="1"/>
          <p:nvPr/>
        </p:nvSpPr>
        <p:spPr>
          <a:xfrm>
            <a:off x="5278153" y="3429000"/>
            <a:ext cx="60975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many policy-related options create clutter and reduce focus.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Lack of visual hierarchy makes all options look equally important.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Large empty space in header reduces effective use of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quick actions like “Track Order” or “Reorder” for faster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profile picture or customization reduces personalization.</a:t>
            </a:r>
          </a:p>
        </p:txBody>
      </p:sp>
    </p:spTree>
    <p:extLst>
      <p:ext uri="{BB962C8B-B14F-4D97-AF65-F5344CB8AC3E}">
        <p14:creationId xmlns:p14="http://schemas.microsoft.com/office/powerpoint/2010/main" val="2244661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35057-93BF-FBC0-EA24-06BFA04B3871}"/>
              </a:ext>
            </a:extLst>
          </p:cNvPr>
          <p:cNvSpPr txBox="1"/>
          <p:nvPr/>
        </p:nvSpPr>
        <p:spPr>
          <a:xfrm>
            <a:off x="1427584" y="1446245"/>
            <a:ext cx="10254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i="1" dirty="0">
                <a:latin typeface="Algerian" panose="04020705040A02060702" pitchFamily="82" charset="0"/>
              </a:rPr>
              <a:t>Competitor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45573-8C6D-3CDE-6699-8FABA23F03C8}"/>
              </a:ext>
            </a:extLst>
          </p:cNvPr>
          <p:cNvSpPr txBox="1"/>
          <p:nvPr/>
        </p:nvSpPr>
        <p:spPr>
          <a:xfrm>
            <a:off x="3620278" y="3573624"/>
            <a:ext cx="45346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latin typeface="Arial Black" panose="020B0A04020102020204" pitchFamily="34" charset="0"/>
              </a:rPr>
              <a:t>Zomato</a:t>
            </a:r>
            <a:endParaRPr lang="en-IN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361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E9700F-5039-CC1F-B743-6A57272AF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382" y="867745"/>
            <a:ext cx="2390790" cy="4385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73FE68-B470-5142-824B-E834D4D52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050" y="867745"/>
            <a:ext cx="2390790" cy="4385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AC4CB4-A8A2-BE12-6C39-700EFCD71D3A}"/>
              </a:ext>
            </a:extLst>
          </p:cNvPr>
          <p:cNvSpPr txBox="1"/>
          <p:nvPr/>
        </p:nvSpPr>
        <p:spPr>
          <a:xfrm>
            <a:off x="121297" y="998375"/>
            <a:ext cx="311020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Strong brand identity with bold logo and color creates instant recognition.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Minimal design keeps screen clean and reduces cognitive load. </a:t>
            </a:r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loading indicator or feedback makes user unsure if app is progressing.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static with no interaction or engagement element.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56D75D-A9F4-F02A-DDCD-850720B73800}"/>
              </a:ext>
            </a:extLst>
          </p:cNvPr>
          <p:cNvSpPr txBox="1"/>
          <p:nvPr/>
        </p:nvSpPr>
        <p:spPr>
          <a:xfrm>
            <a:off x="8679621" y="1156996"/>
            <a:ext cx="302096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Search bar with voice option makes searching quick.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Attractive offer banner grabs user attention. </a:t>
            </a:r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cluttered with many elements.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many options can confuse users.</a:t>
            </a:r>
          </a:p>
        </p:txBody>
      </p:sp>
    </p:spTree>
    <p:extLst>
      <p:ext uri="{BB962C8B-B14F-4D97-AF65-F5344CB8AC3E}">
        <p14:creationId xmlns:p14="http://schemas.microsoft.com/office/powerpoint/2010/main" val="3261232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AD1B0-1C14-745E-BA0E-331CF29CF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986" y="1139367"/>
            <a:ext cx="2474408" cy="4851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D59325-F641-D0A9-FE05-B39E96F4A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14013"/>
            <a:ext cx="2474408" cy="48519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4038A6-8E18-9E7D-2E0E-46F71A91708A}"/>
              </a:ext>
            </a:extLst>
          </p:cNvPr>
          <p:cNvSpPr txBox="1"/>
          <p:nvPr/>
        </p:nvSpPr>
        <p:spPr>
          <a:xfrm>
            <a:off x="530052" y="1443841"/>
            <a:ext cx="2827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Category images make options easy to recognize and visually appealing.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search bar helps users quickly find dishes or restaurants.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many categories on one screen can feel overwhelming.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filters or sorting options for refining choices.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9853F-3E85-207C-BB49-CD287F411351}"/>
              </a:ext>
            </a:extLst>
          </p:cNvPr>
          <p:cNvSpPr txBox="1"/>
          <p:nvPr/>
        </p:nvSpPr>
        <p:spPr>
          <a:xfrm>
            <a:off x="8872093" y="1426212"/>
            <a:ext cx="29031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Filters like “Under ₹200” and “Great offers” help refine choices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Restaurant cards show rating, price, and time clearly for quick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Screen feels crowded with filters, categories, and listings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many similar restaurant cards make it hard to differentiate options.</a:t>
            </a:r>
          </a:p>
        </p:txBody>
      </p:sp>
    </p:spTree>
    <p:extLst>
      <p:ext uri="{BB962C8B-B14F-4D97-AF65-F5344CB8AC3E}">
        <p14:creationId xmlns:p14="http://schemas.microsoft.com/office/powerpoint/2010/main" val="1344623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60AB45-472C-7045-EC8D-6A8D2A243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424" y="944724"/>
            <a:ext cx="2391269" cy="46723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4A3113-E32C-BB11-1CDF-44BD7C2E6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44724"/>
            <a:ext cx="2391269" cy="46723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C96A6E-1D76-844F-89A9-599A446CE84F}"/>
              </a:ext>
            </a:extLst>
          </p:cNvPr>
          <p:cNvSpPr txBox="1"/>
          <p:nvPr/>
        </p:nvSpPr>
        <p:spPr>
          <a:xfrm>
            <a:off x="719410" y="1170545"/>
            <a:ext cx="27987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Restaurant info with rating, distance, and time gives quick overview.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Offer banner and “closing soon” alert create urgency and engagement.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many elements (offers, filters, alerts) make screen feel cluttered.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Item card layout feels slightly crowded with text and buttons.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0E032-FC82-5645-0D69-AB09967C2AF0}"/>
              </a:ext>
            </a:extLst>
          </p:cNvPr>
          <p:cNvSpPr txBox="1"/>
          <p:nvPr/>
        </p:nvSpPr>
        <p:spPr>
          <a:xfrm>
            <a:off x="8724123" y="1170545"/>
            <a:ext cx="291115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Large food image makes item visually appealing and helps decision 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CTA with price (“Add item ₹249”) makes action obvious.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Popup overlay hides background and reduces context of navigation.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Description text is small and slightly hard to read.</a:t>
            </a:r>
          </a:p>
        </p:txBody>
      </p:sp>
    </p:spTree>
    <p:extLst>
      <p:ext uri="{BB962C8B-B14F-4D97-AF65-F5344CB8AC3E}">
        <p14:creationId xmlns:p14="http://schemas.microsoft.com/office/powerpoint/2010/main" val="2507875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108A7-9716-2BC7-9291-43736C87D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269" y="849086"/>
            <a:ext cx="2456103" cy="49498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DCFA5A-B17B-2660-D845-2E37DBD00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49086"/>
            <a:ext cx="2456103" cy="49498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7DF502-3B24-8770-AD94-9EEFA87E51F6}"/>
              </a:ext>
            </a:extLst>
          </p:cNvPr>
          <p:cNvSpPr txBox="1"/>
          <p:nvPr/>
        </p:nvSpPr>
        <p:spPr>
          <a:xfrm>
            <a:off x="345233" y="1175657"/>
            <a:ext cx="30334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“Place Order” button with total price makes final action very clear.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Add-on suggestions help increase order value and improve discovery.</a:t>
            </a:r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cluttered with offers, items, and suggestions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Offer banner at top distracts from main task of ordering. 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576CF-32C8-DE5B-26B3-85774F251EFC}"/>
              </a:ext>
            </a:extLst>
          </p:cNvPr>
          <p:cNvSpPr txBox="1"/>
          <p:nvPr/>
        </p:nvSpPr>
        <p:spPr>
          <a:xfrm>
            <a:off x="8826760" y="1175657"/>
            <a:ext cx="27618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Multiple payment options provide flexibility and user choice.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Well-grouped sections like UPI, Cards, Wallets improve organization. 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clear highlight of selected payment 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many options can make decision-making slower.</a:t>
            </a:r>
          </a:p>
        </p:txBody>
      </p:sp>
    </p:spTree>
    <p:extLst>
      <p:ext uri="{BB962C8B-B14F-4D97-AF65-F5344CB8AC3E}">
        <p14:creationId xmlns:p14="http://schemas.microsoft.com/office/powerpoint/2010/main" val="945533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3BB6C1-2474-D266-131E-4CC7AF4F9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551" y="1091682"/>
            <a:ext cx="2429564" cy="45626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8BBA7C-9D0D-BD08-7FD0-3698A7B949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829" y="1091682"/>
            <a:ext cx="2260640" cy="45626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5DE605-0C87-CA2E-089C-38859763CC4F}"/>
              </a:ext>
            </a:extLst>
          </p:cNvPr>
          <p:cNvSpPr txBox="1"/>
          <p:nvPr/>
        </p:nvSpPr>
        <p:spPr>
          <a:xfrm>
            <a:off x="867747" y="1387857"/>
            <a:ext cx="27152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Live map with delivery path gives real-time tracking and transparency.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status “Preparing your order” with time builds user confidence.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Map occupies most of the screen reducing space for other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Limited order details visible without scrolling.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06996-4D18-3C5B-C678-B5B8C5B433F7}"/>
              </a:ext>
            </a:extLst>
          </p:cNvPr>
          <p:cNvSpPr txBox="1"/>
          <p:nvPr/>
        </p:nvSpPr>
        <p:spPr>
          <a:xfrm>
            <a:off x="8935121" y="1387857"/>
            <a:ext cx="29334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order details with items, quantity, and price improve transparency.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Detailed bill summary builds trust with proper cost breakdown. 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text-heavy and less visually engaging.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Payment method shown as “Unspecified” creates confusion.</a:t>
            </a:r>
          </a:p>
        </p:txBody>
      </p:sp>
    </p:spTree>
    <p:extLst>
      <p:ext uri="{BB962C8B-B14F-4D97-AF65-F5344CB8AC3E}">
        <p14:creationId xmlns:p14="http://schemas.microsoft.com/office/powerpoint/2010/main" val="1976128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7B4A8E-D7E5-5403-8E3F-CCF069EC1502}"/>
              </a:ext>
            </a:extLst>
          </p:cNvPr>
          <p:cNvSpPr txBox="1"/>
          <p:nvPr/>
        </p:nvSpPr>
        <p:spPr>
          <a:xfrm>
            <a:off x="2967134" y="2640563"/>
            <a:ext cx="60648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latin typeface="Arial Black" panose="020B0A04020102020204" pitchFamily="34" charset="0"/>
              </a:rPr>
              <a:t>Domino’s</a:t>
            </a:r>
            <a:endParaRPr lang="en-IN" sz="8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089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CB6AF3-ED08-1660-AAE0-D0C0327C4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231" y="639146"/>
            <a:ext cx="2550367" cy="52951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47A6A1-FC85-198E-E10F-511928C60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39146"/>
            <a:ext cx="2550368" cy="5295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762FEE-1345-C37C-CC36-38AD28ADBFDF}"/>
              </a:ext>
            </a:extLst>
          </p:cNvPr>
          <p:cNvSpPr txBox="1"/>
          <p:nvPr/>
        </p:nvSpPr>
        <p:spPr>
          <a:xfrm>
            <a:off x="475861" y="1088650"/>
            <a:ext cx="28187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High-quality food visuals create strong craving and engagement.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Bold typography highlights product name and grabs attention.</a:t>
            </a:r>
          </a:p>
          <a:p>
            <a:br>
              <a:rPr lang="en-US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clear CTA like “Order Now” reduces action clarity.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is more promotional than functional, lacking interaction elements.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48AA8C-3126-8AF0-C581-9FFBEE1273F3}"/>
              </a:ext>
            </a:extLst>
          </p:cNvPr>
          <p:cNvSpPr txBox="1"/>
          <p:nvPr/>
        </p:nvSpPr>
        <p:spPr>
          <a:xfrm>
            <a:off x="8954277" y="1088650"/>
            <a:ext cx="27618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location and delivery options improve user control and flexibility.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Strong promotional banner with clear “Order Now” CTA drives action.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cluttered with location, tabs, and banner together.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much promotional content reduces focus on browsing menu.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411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2C3C1E-D4E7-3BC3-E1E1-0ED6544B9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772" y="755779"/>
            <a:ext cx="2531228" cy="53464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4A9B35-B2BF-84FE-4E92-7BE4C1F31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335" y="755779"/>
            <a:ext cx="2531227" cy="534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95501E-5FE6-8C38-CA0F-1461706F58C6}"/>
              </a:ext>
            </a:extLst>
          </p:cNvPr>
          <p:cNvSpPr txBox="1"/>
          <p:nvPr/>
        </p:nvSpPr>
        <p:spPr>
          <a:xfrm>
            <a:off x="429207" y="1305341"/>
            <a:ext cx="30262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Category icons with images make options easy to recognize.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section title “What are you craving for?” guides user intent.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many categories on one screen can feel overwhelming.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Bottom banner overlaps content and reduces visibility.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1A1E4-6595-C01F-17D1-41672965FD7B}"/>
              </a:ext>
            </a:extLst>
          </p:cNvPr>
          <p:cNvSpPr txBox="1"/>
          <p:nvPr/>
        </p:nvSpPr>
        <p:spPr>
          <a:xfrm>
            <a:off x="9246637" y="1362269"/>
            <a:ext cx="266855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Search bar with filters helps users quickly find items.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Large product image with price and offer makes decision easy.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cluttered with filters, tabs, and banners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Bottom banner overlaps content and reduces visibility.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961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2C8A48-6F56-B2C2-6247-64C724B56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150" y="760444"/>
            <a:ext cx="2596543" cy="53371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98B109-8995-BF1F-97B8-724B30F52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60444"/>
            <a:ext cx="2596543" cy="5337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C1F3DE-ECE1-9992-B711-28195A209863}"/>
              </a:ext>
            </a:extLst>
          </p:cNvPr>
          <p:cNvSpPr txBox="1"/>
          <p:nvPr/>
        </p:nvSpPr>
        <p:spPr>
          <a:xfrm>
            <a:off x="576340" y="1443841"/>
            <a:ext cx="27365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customization options for size and crust improve user control.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Price with discount and final CTA makes decision easy.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empty with too much unused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Limited customization options visible, reducing flexibility.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1E0A5-691B-BE48-EC75-9C11AEC5507B}"/>
              </a:ext>
            </a:extLst>
          </p:cNvPr>
          <p:cNvSpPr txBox="1"/>
          <p:nvPr/>
        </p:nvSpPr>
        <p:spPr>
          <a:xfrm>
            <a:off x="8985379" y="1443841"/>
            <a:ext cx="29857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delivery time and location info improves transparency.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Savings and discount information highlights value to users.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cluttered with offers and rewards sections.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Primary CTA “Add Address” may confuse users instead of showing checkout action.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056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48E2BD-1622-282A-913F-4EC9D87EB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923" y="825758"/>
            <a:ext cx="2668077" cy="53324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27F229-AE28-33AA-C73F-CFC190828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673" y="825758"/>
            <a:ext cx="2668077" cy="53324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BCD6CD-111A-025C-E085-AF9ACE052900}"/>
              </a:ext>
            </a:extLst>
          </p:cNvPr>
          <p:cNvSpPr txBox="1"/>
          <p:nvPr/>
        </p:nvSpPr>
        <p:spPr>
          <a:xfrm>
            <a:off x="580173" y="1323058"/>
            <a:ext cx="266807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coupon code input field allows easy manual entry.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Offer card shows discount details and conditions clearly.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Disabled “Apply” button reduces clarity on how to activate offer.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empty with limited available offers.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79F0E-19FD-5927-0319-FD93A3864509}"/>
              </a:ext>
            </a:extLst>
          </p:cNvPr>
          <p:cNvSpPr txBox="1"/>
          <p:nvPr/>
        </p:nvSpPr>
        <p:spPr>
          <a:xfrm>
            <a:off x="9010261" y="1068671"/>
            <a:ext cx="29702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Celebration popup highlights reward clearly and creates positive user emotion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Message “Free Delivery Unlocked” gives clear feedback and reinforces value.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Popup blocks entire screen and interrupts user 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Confetti and visuals create distraction from main task.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7150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D6A5DD-26E7-5A67-BD3D-E7B0E9876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049" y="662474"/>
            <a:ext cx="2650372" cy="53744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52C229-0B00-6795-2CE3-5F618D76E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628" y="662474"/>
            <a:ext cx="2650372" cy="53744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5683E7-63BF-9F0E-9C00-5C11D8FAB39E}"/>
              </a:ext>
            </a:extLst>
          </p:cNvPr>
          <p:cNvSpPr txBox="1"/>
          <p:nvPr/>
        </p:nvSpPr>
        <p:spPr>
          <a:xfrm>
            <a:off x="279918" y="1110343"/>
            <a:ext cx="299512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Map with pin helps users set accurate delivery 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form fields for address details improve data entry.</a:t>
            </a:r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long and form-heavy, increasing effort.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Login prompt at top interrupts flow for quick address entry.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AFEFE4-781C-7398-85AF-D4CA8EEDBDCA}"/>
              </a:ext>
            </a:extLst>
          </p:cNvPr>
          <p:cNvSpPr txBox="1"/>
          <p:nvPr/>
        </p:nvSpPr>
        <p:spPr>
          <a:xfrm>
            <a:off x="9153330" y="1231641"/>
            <a:ext cx="27587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Multiple payment options give flexibility to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savings and payable amount builds trust.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50"/>
              </a:solidFill>
            </a:endParaRPr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clear highlight of selected payment 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many options can make decision-making slow.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033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422568-95F2-66EE-CC5A-943EA7575A6B}"/>
              </a:ext>
            </a:extLst>
          </p:cNvPr>
          <p:cNvSpPr txBox="1"/>
          <p:nvPr/>
        </p:nvSpPr>
        <p:spPr>
          <a:xfrm>
            <a:off x="3610946" y="2584579"/>
            <a:ext cx="47959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i="1" dirty="0">
                <a:latin typeface="Arial Black" panose="020B0A04020102020204" pitchFamily="34" charset="0"/>
              </a:rPr>
              <a:t>Swiggy</a:t>
            </a:r>
          </a:p>
        </p:txBody>
      </p:sp>
    </p:spTree>
    <p:extLst>
      <p:ext uri="{BB962C8B-B14F-4D97-AF65-F5344CB8AC3E}">
        <p14:creationId xmlns:p14="http://schemas.microsoft.com/office/powerpoint/2010/main" val="1345710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9B4AA6-1DD8-23BE-6BA4-C872EC6B7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592" y="681133"/>
            <a:ext cx="2410408" cy="51971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1DF0B2-3283-DBC6-73B2-A079DE79A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290" y="681133"/>
            <a:ext cx="2410409" cy="51971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7289F2-4E97-A6EF-9705-63144D381AF0}"/>
              </a:ext>
            </a:extLst>
          </p:cNvPr>
          <p:cNvSpPr txBox="1"/>
          <p:nvPr/>
        </p:nvSpPr>
        <p:spPr>
          <a:xfrm>
            <a:off x="541175" y="1028343"/>
            <a:ext cx="299512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Prominent search bar with voice option enables quick discovery.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Attractive deal cards and banners grab attention and drive engagement.</a:t>
            </a:r>
          </a:p>
          <a:p>
            <a:br>
              <a:rPr lang="en-US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cluttered with too many offers and banners.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many colors and elements reduce visual consistency.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3DCBE-0E63-D9DA-DF32-FE051FBCBFCD}"/>
              </a:ext>
            </a:extLst>
          </p:cNvPr>
          <p:cNvSpPr txBox="1"/>
          <p:nvPr/>
        </p:nvSpPr>
        <p:spPr>
          <a:xfrm>
            <a:off x="8966718" y="1028343"/>
            <a:ext cx="29764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Search suggestions like “Pizza” and “Get Pizza in 15 mins” improve quick selection.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Restaurant list with ratings and delivery time helps easy comparison.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Listings look very similar, making it hard to differentiate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strong filters or sorting options visible on this screen.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675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AAABC2-DC2A-01FD-A192-3FB0E5782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979" y="494523"/>
            <a:ext cx="2621902" cy="5393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A79F01-85E3-4ED1-6187-214ADA28A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957" y="541176"/>
            <a:ext cx="2621902" cy="53930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2127A6-169A-7EF2-FCC0-124DA570AB34}"/>
              </a:ext>
            </a:extLst>
          </p:cNvPr>
          <p:cNvSpPr txBox="1"/>
          <p:nvPr/>
        </p:nvSpPr>
        <p:spPr>
          <a:xfrm>
            <a:off x="438539" y="1166842"/>
            <a:ext cx="29673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Restaurant card with rating, time, and distance helps quick decision making.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Recommended items with images improve discovery and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50"/>
              </a:solidFill>
            </a:endParaRP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slightly crowded with multiple sections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Add (+) buttons are small and not very prominent.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D26F7-DBC4-5D11-59B7-7C818D244C38}"/>
              </a:ext>
            </a:extLst>
          </p:cNvPr>
          <p:cNvSpPr txBox="1"/>
          <p:nvPr/>
        </p:nvSpPr>
        <p:spPr>
          <a:xfrm>
            <a:off x="9131560" y="1152133"/>
            <a:ext cx="27369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Large food image makes item visually appealing and easy to choose.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Labels like “Bestseller” and delivery time help quick decision making.</a:t>
            </a:r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Popup overlay reduces visibility of background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Close (X) button placement is not very intuitive or prominent.</a:t>
            </a:r>
          </a:p>
        </p:txBody>
      </p:sp>
    </p:spTree>
    <p:extLst>
      <p:ext uri="{BB962C8B-B14F-4D97-AF65-F5344CB8AC3E}">
        <p14:creationId xmlns:p14="http://schemas.microsoft.com/office/powerpoint/2010/main" val="1440765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73FF97-099B-BCDB-655F-F161D16BF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310" y="410546"/>
            <a:ext cx="2441989" cy="54584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26E854-84D7-DA1E-D7CB-2E19AC023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410546"/>
            <a:ext cx="2441989" cy="54584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CBB692-55BC-107B-E58C-820E29A39CB7}"/>
              </a:ext>
            </a:extLst>
          </p:cNvPr>
          <p:cNvSpPr txBox="1"/>
          <p:nvPr/>
        </p:nvSpPr>
        <p:spPr>
          <a:xfrm>
            <a:off x="470118" y="1011141"/>
            <a:ext cx="28924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Preselected options help users order faster and reduce effort.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pricing and size options make comparison easy.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50"/>
              </a:solidFill>
            </a:endParaRPr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slightly crowded with multiple options and sections.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Popup overlay hides background context and interrupts flow.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ECDC7D-5B08-C1C2-1105-0F76B7AF58F5}"/>
              </a:ext>
            </a:extLst>
          </p:cNvPr>
          <p:cNvSpPr txBox="1"/>
          <p:nvPr/>
        </p:nvSpPr>
        <p:spPr>
          <a:xfrm>
            <a:off x="8798768" y="1011141"/>
            <a:ext cx="27431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discount message highlights savings and attracts attention.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Simple CTA button (“YAY!”) makes action easy and quick.</a:t>
            </a:r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Popup interrupts user flow and blocks main screen.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Overuse of popups can feel intrusive and annoying.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641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598631-7C2D-AF45-B57F-6EDE95BAF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326" y="466532"/>
            <a:ext cx="2643674" cy="56076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CA4FDE-C6EF-2311-6121-8DD9E854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885" y="466531"/>
            <a:ext cx="2643674" cy="5607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0193C7-9263-6041-3D95-3CB3B509FD1B}"/>
              </a:ext>
            </a:extLst>
          </p:cNvPr>
          <p:cNvSpPr txBox="1"/>
          <p:nvPr/>
        </p:nvSpPr>
        <p:spPr>
          <a:xfrm>
            <a:off x="506487" y="877077"/>
            <a:ext cx="282095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savings section highlights applied discounts and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Delivery time info (“10–15 mins”) builds speed perception and confidence.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cluttered with multiple sections like savings, delivery, and payment.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many options (coupon, tip, instructions) can distract from main action.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D15037-1988-D279-DBEE-671A54941335}"/>
              </a:ext>
            </a:extLst>
          </p:cNvPr>
          <p:cNvSpPr txBox="1"/>
          <p:nvPr/>
        </p:nvSpPr>
        <p:spPr>
          <a:xfrm>
            <a:off x="9060024" y="877077"/>
            <a:ext cx="264367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Clear coupon input field allows easy manual code entry.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Offer cards show savings and conditions for better decision 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50"/>
              </a:solidFill>
            </a:endParaRPr>
          </a:p>
          <a:p>
            <a:br>
              <a:rPr lang="en-US" dirty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many conditions in offers make it hard to quickly understand.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Screen feels cluttered with multiple offers and banners.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270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3AF4DB-3CDD-AF5C-6405-D7E131354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15" y="601837"/>
            <a:ext cx="2593430" cy="5239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AA584A-3F5D-A03D-A5E4-FECD4B1C5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2" y="614438"/>
            <a:ext cx="2509934" cy="52391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5278C0-53BA-3133-C2AE-D712DCBBAB94}"/>
              </a:ext>
            </a:extLst>
          </p:cNvPr>
          <p:cNvSpPr txBox="1"/>
          <p:nvPr/>
        </p:nvSpPr>
        <p:spPr>
          <a:xfrm>
            <a:off x="515330" y="1194318"/>
            <a:ext cx="266592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Cashback and offers are clearly shown with payment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Well-structured grouping of payment methods improves navigation.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No clear selection highlight for chosen payment 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Too many options can make decision-making slower.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F5C0B5-AC1E-6BCA-4BA1-E597BAC8C4F8}"/>
              </a:ext>
            </a:extLst>
          </p:cNvPr>
          <p:cNvSpPr txBox="1"/>
          <p:nvPr/>
        </p:nvSpPr>
        <p:spPr>
          <a:xfrm>
            <a:off x="8696130" y="1097741"/>
            <a:ext cx="29805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Live map with delivery tracking improves transparency and user confidence.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Real-time updates like “Preparing your order” and partner info enhance trust.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Map takes large space reducing visibility of detailed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Small text and compact cards reduce readability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842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CE73B8-0A4A-C58B-C84C-AC6578CDF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509711"/>
              </p:ext>
            </p:extLst>
          </p:nvPr>
        </p:nvGraphicFramePr>
        <p:xfrm>
          <a:off x="1362269" y="1082351"/>
          <a:ext cx="9265295" cy="5169153"/>
        </p:xfrm>
        <a:graphic>
          <a:graphicData uri="http://schemas.openxmlformats.org/drawingml/2006/table">
            <a:tbl>
              <a:tblPr/>
              <a:tblGrid>
                <a:gridCol w="1847404">
                  <a:extLst>
                    <a:ext uri="{9D8B030D-6E8A-4147-A177-3AD203B41FA5}">
                      <a16:colId xmlns:a16="http://schemas.microsoft.com/office/drawing/2014/main" val="4071240664"/>
                    </a:ext>
                  </a:extLst>
                </a:gridCol>
                <a:gridCol w="1858714">
                  <a:extLst>
                    <a:ext uri="{9D8B030D-6E8A-4147-A177-3AD203B41FA5}">
                      <a16:colId xmlns:a16="http://schemas.microsoft.com/office/drawing/2014/main" val="2997478613"/>
                    </a:ext>
                  </a:extLst>
                </a:gridCol>
                <a:gridCol w="1853059">
                  <a:extLst>
                    <a:ext uri="{9D8B030D-6E8A-4147-A177-3AD203B41FA5}">
                      <a16:colId xmlns:a16="http://schemas.microsoft.com/office/drawing/2014/main" val="3410440964"/>
                    </a:ext>
                  </a:extLst>
                </a:gridCol>
                <a:gridCol w="1853059">
                  <a:extLst>
                    <a:ext uri="{9D8B030D-6E8A-4147-A177-3AD203B41FA5}">
                      <a16:colId xmlns:a16="http://schemas.microsoft.com/office/drawing/2014/main" val="2920985712"/>
                    </a:ext>
                  </a:extLst>
                </a:gridCol>
                <a:gridCol w="1853059">
                  <a:extLst>
                    <a:ext uri="{9D8B030D-6E8A-4147-A177-3AD203B41FA5}">
                      <a16:colId xmlns:a16="http://schemas.microsoft.com/office/drawing/2014/main" val="1940337701"/>
                    </a:ext>
                  </a:extLst>
                </a:gridCol>
              </a:tblGrid>
              <a:tr h="396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Feature / Factor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Your App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Zomato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Swiggy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Domino’s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308497"/>
                  </a:ext>
                </a:extLst>
              </a:tr>
              <a:tr h="433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UI Simplicity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922964"/>
                  </a:ext>
                </a:extLst>
              </a:tr>
              <a:tr h="433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Variety of Food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493964"/>
                  </a:ext>
                </a:extLst>
              </a:tr>
              <a:tr h="433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Search &amp; Filters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673439"/>
                  </a:ext>
                </a:extLst>
              </a:tr>
              <a:tr h="433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Ratings &amp; Reviews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092875"/>
                  </a:ext>
                </a:extLst>
              </a:tr>
              <a:tr h="433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Personalization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824235"/>
                  </a:ext>
                </a:extLst>
              </a:tr>
              <a:tr h="433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Fast Ordering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559461"/>
                  </a:ext>
                </a:extLst>
              </a:tr>
              <a:tr h="433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Simple Checkout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216689"/>
                  </a:ext>
                </a:extLst>
              </a:tr>
              <a:tr h="433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Offers &amp; Discounts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898299"/>
                  </a:ext>
                </a:extLst>
              </a:tr>
              <a:tr h="433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Visual Design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911177"/>
                  </a:ext>
                </a:extLst>
              </a:tr>
              <a:tr h="433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Low Clutter UI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068805"/>
                  </a:ext>
                </a:extLst>
              </a:tr>
              <a:tr h="433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User Trust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71338" marR="71338" marT="35669" marB="356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338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3824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633F2C-FD9B-B3F3-68F5-5A6698FAB373}"/>
              </a:ext>
            </a:extLst>
          </p:cNvPr>
          <p:cNvSpPr txBox="1"/>
          <p:nvPr/>
        </p:nvSpPr>
        <p:spPr>
          <a:xfrm>
            <a:off x="2295331" y="1782147"/>
            <a:ext cx="64194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i="1" dirty="0">
                <a:latin typeface="Berlin Sans FB Demi" panose="020E0802020502020306" pitchFamily="34" charset="0"/>
              </a:rPr>
              <a:t>UI BENCHMARKING </a:t>
            </a:r>
          </a:p>
        </p:txBody>
      </p:sp>
    </p:spTree>
    <p:extLst>
      <p:ext uri="{BB962C8B-B14F-4D97-AF65-F5344CB8AC3E}">
        <p14:creationId xmlns:p14="http://schemas.microsoft.com/office/powerpoint/2010/main" val="41567664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CA69D3-60F0-B7CD-BD41-3B3738C13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017" y="404258"/>
            <a:ext cx="2945706" cy="58442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89442D-363D-78F5-A9AD-CB266BE29F7E}"/>
              </a:ext>
            </a:extLst>
          </p:cNvPr>
          <p:cNvSpPr txBox="1"/>
          <p:nvPr/>
        </p:nvSpPr>
        <p:spPr>
          <a:xfrm>
            <a:off x="1881674" y="785719"/>
            <a:ext cx="3016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1" dirty="0">
                <a:latin typeface="Algerian" panose="04020705040A02060702" pitchFamily="82" charset="0"/>
              </a:rPr>
              <a:t>Search</a:t>
            </a:r>
            <a:r>
              <a:rPr lang="en-IN" sz="2800" b="1" i="1" dirty="0">
                <a:latin typeface="Algerian" panose="04020705040A02060702" pitchFamily="82" charset="0"/>
              </a:rPr>
              <a:t>  </a:t>
            </a:r>
            <a:r>
              <a:rPr lang="en-IN" sz="3200" b="1" i="1" dirty="0">
                <a:latin typeface="Algerian" panose="04020705040A02060702" pitchFamily="82" charset="0"/>
              </a:rPr>
              <a:t>bar</a:t>
            </a:r>
            <a:endParaRPr lang="en-IN" sz="2800" b="1" i="1" dirty="0"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72A98F-337E-8B43-C7F6-B6498750D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098" y="1758690"/>
            <a:ext cx="3016167" cy="523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98BA3F-9390-93EA-0890-822DA6000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098" y="2693351"/>
            <a:ext cx="3016167" cy="523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B45465-E305-600A-5D52-A3E4C17D5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9098" y="3641431"/>
            <a:ext cx="3016166" cy="5239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43DA464-38B6-F152-02FF-ADFFDA1F931F}"/>
              </a:ext>
            </a:extLst>
          </p:cNvPr>
          <p:cNvSpPr/>
          <p:nvPr/>
        </p:nvSpPr>
        <p:spPr>
          <a:xfrm>
            <a:off x="6802017" y="1082351"/>
            <a:ext cx="2945706" cy="42920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C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1162893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40162E-09C8-7EE0-157C-E96A410BC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478" y="425182"/>
            <a:ext cx="3080531" cy="58442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1D874BE-64CC-80AB-D4BF-0FA70B7767B0}"/>
              </a:ext>
            </a:extLst>
          </p:cNvPr>
          <p:cNvSpPr/>
          <p:nvPr/>
        </p:nvSpPr>
        <p:spPr>
          <a:xfrm>
            <a:off x="8098971" y="3956180"/>
            <a:ext cx="2827176" cy="109168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380C3F-1FE0-1C7C-5087-2746B2C0A7E2}"/>
              </a:ext>
            </a:extLst>
          </p:cNvPr>
          <p:cNvSpPr txBox="1"/>
          <p:nvPr/>
        </p:nvSpPr>
        <p:spPr>
          <a:xfrm>
            <a:off x="1996752" y="425182"/>
            <a:ext cx="2837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Food Card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BD714E-CFDF-6619-A233-F8EB30366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44" y="1400457"/>
            <a:ext cx="3220815" cy="22664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3A1898-0BC2-AACD-27B0-1B54B9E5D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3916" y="1400458"/>
            <a:ext cx="3639058" cy="22664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038F93-FEB6-A574-AC5F-26865C9AA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999" y="4161912"/>
            <a:ext cx="3459389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519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EAF619-D377-2E68-35EA-0419F330C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316" y="346107"/>
            <a:ext cx="3165231" cy="6315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5E99A8-45BA-18D2-86C6-FED6B06E5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960" y="2209367"/>
            <a:ext cx="2418199" cy="6477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D4269C-2B01-7915-C84A-08392FF3C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3960" y="3105105"/>
            <a:ext cx="2418199" cy="6477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09ACF6-F6DA-086A-2565-6EC3AC5D8716}"/>
              </a:ext>
            </a:extLst>
          </p:cNvPr>
          <p:cNvSpPr txBox="1"/>
          <p:nvPr/>
        </p:nvSpPr>
        <p:spPr>
          <a:xfrm>
            <a:off x="1978090" y="606490"/>
            <a:ext cx="3165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i="1" dirty="0">
                <a:latin typeface="Algerian" panose="04020705040A02060702" pitchFamily="82" charset="0"/>
              </a:rPr>
              <a:t>Payment</a:t>
            </a:r>
            <a:r>
              <a:rPr lang="en-IN" sz="2800" i="1" dirty="0">
                <a:latin typeface="Algerian" panose="04020705040A02060702" pitchFamily="82" charset="0"/>
              </a:rPr>
              <a:t> </a:t>
            </a:r>
            <a:r>
              <a:rPr lang="en-IN" sz="3200" i="1" dirty="0">
                <a:latin typeface="Algerian" panose="04020705040A02060702" pitchFamily="82" charset="0"/>
              </a:rPr>
              <a:t>icon</a:t>
            </a:r>
            <a:endParaRPr lang="en-IN" sz="2800" i="1" dirty="0">
              <a:latin typeface="Algerian" panose="04020705040A02060702" pitchFamily="8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4D897-9DB0-BC1E-4820-36C3BCCC8E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3961" y="4058817"/>
            <a:ext cx="2418200" cy="75578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37B5E07-6382-D689-6815-BFD6F31223D8}"/>
              </a:ext>
            </a:extLst>
          </p:cNvPr>
          <p:cNvSpPr/>
          <p:nvPr/>
        </p:nvSpPr>
        <p:spPr>
          <a:xfrm>
            <a:off x="9321282" y="5915608"/>
            <a:ext cx="961053" cy="43853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654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00A1EF-67B3-D5D9-4DFA-D421A5179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967" y="475861"/>
            <a:ext cx="2720417" cy="55373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756A26-FF47-4035-CC07-32105C3D9886}"/>
              </a:ext>
            </a:extLst>
          </p:cNvPr>
          <p:cNvSpPr txBox="1"/>
          <p:nvPr/>
        </p:nvSpPr>
        <p:spPr>
          <a:xfrm>
            <a:off x="1082351" y="354563"/>
            <a:ext cx="2789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i="1" dirty="0">
                <a:latin typeface="Algerian" panose="04020705040A02060702" pitchFamily="82" charset="0"/>
              </a:rPr>
              <a:t>Login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92AFB6-CA58-46A5-CC32-FDFBF567E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84" y="1278294"/>
            <a:ext cx="2274789" cy="44880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99DE20-63F3-408D-756C-EBC7538A1C12}"/>
              </a:ext>
            </a:extLst>
          </p:cNvPr>
          <p:cNvSpPr/>
          <p:nvPr/>
        </p:nvSpPr>
        <p:spPr>
          <a:xfrm>
            <a:off x="9517224" y="1119673"/>
            <a:ext cx="2274789" cy="44880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ABDCD8-58FF-4024-F576-3B2D288093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548" y="1278294"/>
            <a:ext cx="2352117" cy="4488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06ACBB-BB09-0FDB-35BF-F3EAAC10D6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740" y="1306285"/>
            <a:ext cx="2620850" cy="446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3726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0AD421-FD79-7A78-223D-FD00049C9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838" y="185213"/>
            <a:ext cx="3165231" cy="61036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262AEE-8649-DE6D-A49F-5B4480EB71C4}"/>
              </a:ext>
            </a:extLst>
          </p:cNvPr>
          <p:cNvSpPr/>
          <p:nvPr/>
        </p:nvSpPr>
        <p:spPr>
          <a:xfrm>
            <a:off x="8811721" y="569167"/>
            <a:ext cx="2379306" cy="512250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2EDCB-AD96-12EE-4C3D-CB57201D6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95" y="1047011"/>
            <a:ext cx="2271226" cy="4763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065BE4-0A8A-2AF8-5044-E5451FBEC7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114" y="1047011"/>
            <a:ext cx="2271227" cy="48946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1E85A1-D243-78A9-F823-E9BAC5412C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696" y="1047011"/>
            <a:ext cx="2315984" cy="489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2892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762</TotalTime>
  <Words>2493</Words>
  <Application>Microsoft Office PowerPoint</Application>
  <PresentationFormat>Widescreen</PresentationFormat>
  <Paragraphs>353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Algerian</vt:lpstr>
      <vt:lpstr>Arial</vt:lpstr>
      <vt:lpstr>Arial Black</vt:lpstr>
      <vt:lpstr>Berlin Sans FB Demi</vt:lpstr>
      <vt:lpstr>Calibri</vt:lpstr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Suman Kumari</dc:creator>
  <cp:lastModifiedBy>Yogita Yadav</cp:lastModifiedBy>
  <cp:revision>26</cp:revision>
  <dcterms:created xsi:type="dcterms:W3CDTF">2026-03-18T17:58:56Z</dcterms:created>
  <dcterms:modified xsi:type="dcterms:W3CDTF">2026-04-07T17:33:13Z</dcterms:modified>
</cp:coreProperties>
</file>